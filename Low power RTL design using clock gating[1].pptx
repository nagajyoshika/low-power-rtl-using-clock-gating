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48" r:id="rId1"/>
  </p:sldMasterIdLst>
  <p:notesMasterIdLst>
    <p:notesMasterId r:id="rId14"/>
  </p:notesMasterIdLst>
  <p:handoutMasterIdLst>
    <p:handoutMasterId r:id="rId15"/>
  </p:handoutMasterIdLst>
  <p:sldIdLst>
    <p:sldId id="531" r:id="rId2"/>
    <p:sldId id="289" r:id="rId3"/>
    <p:sldId id="292" r:id="rId4"/>
    <p:sldId id="294" r:id="rId5"/>
    <p:sldId id="533" r:id="rId6"/>
    <p:sldId id="535" r:id="rId7"/>
    <p:sldId id="534" r:id="rId8"/>
    <p:sldId id="298" r:id="rId9"/>
    <p:sldId id="532" r:id="rId10"/>
    <p:sldId id="305" r:id="rId11"/>
    <p:sldId id="307" r:id="rId12"/>
    <p:sldId id="301" r:id="rId13"/>
  </p:sldIdLst>
  <p:sldSz cx="12192000" cy="6858000"/>
  <p:notesSz cx="6858000" cy="9144000"/>
  <p:embeddedFontLst>
    <p:embeddedFont>
      <p:font typeface="Aharoni" panose="02010803020104030203" pitchFamily="2" charset="-79"/>
      <p:bold r:id="rId16"/>
    </p:embeddedFont>
    <p:embeddedFont>
      <p:font typeface="Montserrat Medium" panose="00000600000000000000" pitchFamily="2" charset="0"/>
      <p:regular r:id="rId17"/>
      <p:italic r:id="rId18"/>
    </p:embeddedFont>
    <p:embeddedFont>
      <p:font typeface="Open Sans" panose="020B0606030504020204" pitchFamily="34" charset="0"/>
      <p:regular r:id="rId19"/>
      <p:bold r:id="rId20"/>
      <p:italic r:id="rId21"/>
      <p:boldItalic r:id="rId22"/>
    </p:embeddedFont>
    <p:embeddedFont>
      <p:font typeface="Plus Jakarta Sans" panose="020B0604020202020204" charset="0"/>
      <p:regular r:id="rId23"/>
      <p:bold r:id="rId24"/>
      <p:italic r:id="rId25"/>
      <p:boldItalic r:id="rId26"/>
    </p:embeddedFont>
    <p:embeddedFont>
      <p:font typeface="Poppins SemiBold" panose="00000700000000000000" pitchFamily="2" charset="0"/>
      <p:regular r:id="rId27"/>
      <p:bold r:id="rId28"/>
      <p:italic r:id="rId29"/>
      <p:boldItalic r:id="rId30"/>
    </p:embeddedFont>
    <p:embeddedFont>
      <p:font typeface="Verdana" panose="020B0604030504040204" pitchFamily="34" charset="0"/>
      <p:regular r:id="rId31"/>
      <p:bold r:id="rId32"/>
      <p:italic r:id="rId33"/>
      <p:boldItalic r:id="rId34"/>
    </p:embeddedFont>
  </p:embeddedFontLst>
  <p:custDataLst>
    <p:tags r:id="rId35"/>
  </p:custData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87" roundtripDataSignature="AMtx7miIyBGqFJiBIVMPSSJVJ08VgmQ4iw=="/>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hod_eceblr gitam" initials="" lastIdx="6" clrIdx="0"/>
</p:cm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069"/>
    <a:srgbClr val="00926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DE7AD339-51BE-4A38-A1C7-CCF28897F289}">
  <a:tblStyle styleId="{DE7AD339-51BE-4A38-A1C7-CCF28897F289}" styleName="Table_0">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DA924C56-2605-4F23-9EB3-E9BB6EE8B9F5}" styleName="Table_1">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3C51EE4F-AFDD-4CAF-9A68-E5F7998E488A}" styleName="Table_2">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DAE93928-965C-4434-93D3-DF2355B07969}" styleName="Table_3">
    <a:wholeTbl>
      <a:tcTxStyle b="off" i="off">
        <a:font>
          <a:latin typeface="Calibri"/>
          <a:ea typeface="Calibri"/>
          <a:cs typeface="Calibri"/>
        </a:font>
        <a:schemeClr val="dk1"/>
      </a:tcTxStyle>
      <a:tcStyle>
        <a:tcBdr>
          <a:left>
            <a:ln w="12700" cap="flat" cmpd="sng">
              <a:solidFill>
                <a:schemeClr val="dk1"/>
              </a:solidFill>
              <a:prstDash val="solid"/>
              <a:round/>
              <a:headEnd type="none" w="sm" len="sm"/>
              <a:tailEnd type="none" w="sm" len="sm"/>
            </a:ln>
          </a:left>
          <a:right>
            <a:ln w="12700" cap="flat" cmpd="sng">
              <a:solidFill>
                <a:schemeClr val="dk1"/>
              </a:solidFill>
              <a:prstDash val="solid"/>
              <a:round/>
              <a:headEnd type="none" w="sm" len="sm"/>
              <a:tailEnd type="none" w="sm" len="sm"/>
            </a:ln>
          </a:right>
          <a:top>
            <a:ln w="12700" cap="flat" cmpd="sng">
              <a:solidFill>
                <a:schemeClr val="dk1"/>
              </a:solidFill>
              <a:prstDash val="solid"/>
              <a:round/>
              <a:headEnd type="none" w="sm" len="sm"/>
              <a:tailEnd type="none" w="sm" len="sm"/>
            </a:ln>
          </a:top>
          <a:bottom>
            <a:ln w="12700" cap="flat" cmpd="sng">
              <a:solidFill>
                <a:schemeClr val="dk1"/>
              </a:solidFill>
              <a:prstDash val="solid"/>
              <a:round/>
              <a:headEnd type="none" w="sm" len="sm"/>
              <a:tailEnd type="none" w="sm" len="sm"/>
            </a:ln>
          </a:bottom>
          <a:insideH>
            <a:ln w="12700" cap="flat" cmpd="sng">
              <a:solidFill>
                <a:schemeClr val="dk1"/>
              </a:solidFill>
              <a:prstDash val="solid"/>
              <a:round/>
              <a:headEnd type="none" w="sm" len="sm"/>
              <a:tailEnd type="none" w="sm" len="sm"/>
            </a:ln>
          </a:insideH>
          <a:insideV>
            <a:ln w="12700" cap="flat" cmpd="sng">
              <a:solidFill>
                <a:schemeClr val="dk1"/>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EEF631A4-29D2-40AD-BCCE-37D0C2C57A83}" styleName="Table_4">
    <a:wholeTbl>
      <a:tcTxStyle b="off" i="off">
        <a:font>
          <a:latin typeface="Arial"/>
          <a:ea typeface="Arial"/>
          <a:cs typeface="Arial"/>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FFF5E7"/>
          </a:solidFill>
        </a:fill>
      </a:tcStyle>
    </a:wholeTbl>
    <a:band1H>
      <a:tcTxStyle/>
      <a:tcStyle>
        <a:tcBdr/>
        <a:fill>
          <a:solidFill>
            <a:srgbClr val="FFEACC"/>
          </a:solidFill>
        </a:fill>
      </a:tcStyle>
    </a:band1H>
    <a:band2H>
      <a:tcTxStyle/>
      <a:tcStyle>
        <a:tcBdr/>
      </a:tcStyle>
    </a:band2H>
    <a:band1V>
      <a:tcTxStyle/>
      <a:tcStyle>
        <a:tcBdr/>
        <a:fill>
          <a:solidFill>
            <a:srgbClr val="FFEACC"/>
          </a:solidFill>
        </a:fill>
      </a:tcStyle>
    </a:band1V>
    <a:band2V>
      <a:tcTxStyle/>
      <a:tcStyle>
        <a:tcBdr/>
      </a:tcStyle>
    </a:band2V>
    <a:lastCol>
      <a:tcTxStyle b="on" i="off">
        <a:font>
          <a:latin typeface="Arial"/>
          <a:ea typeface="Arial"/>
          <a:cs typeface="Arial"/>
        </a:font>
        <a:schemeClr val="lt1"/>
      </a:tcTxStyle>
      <a:tcStyle>
        <a:tcBdr/>
        <a:fill>
          <a:solidFill>
            <a:schemeClr val="accent1"/>
          </a:solidFill>
        </a:fill>
      </a:tcStyle>
    </a:lastCol>
    <a:firstCol>
      <a:tcTxStyle b="on" i="off">
        <a:font>
          <a:latin typeface="Arial"/>
          <a:ea typeface="Arial"/>
          <a:cs typeface="Arial"/>
        </a:font>
        <a:schemeClr val="lt1"/>
      </a:tcTxStyle>
      <a:tcStyle>
        <a:tcBdr/>
        <a:fill>
          <a:solidFill>
            <a:schemeClr val="accent1"/>
          </a:solidFill>
        </a:fill>
      </a:tcStyle>
    </a:firstCol>
    <a:lastRow>
      <a:tcTxStyle b="on" i="off">
        <a:font>
          <a:latin typeface="Arial"/>
          <a:ea typeface="Arial"/>
          <a:cs typeface="Arial"/>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Arial"/>
          <a:ea typeface="Arial"/>
          <a:cs typeface="Arial"/>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 styleId="{D26335F9-F63F-485A-8836-33AD16E12051}" styleName="Table_5">
    <a:wholeTbl>
      <a:tcTxStyle b="off" i="off">
        <a:font>
          <a:latin typeface="Calibri"/>
          <a:ea typeface="Calibri"/>
          <a:cs typeface="Calibri"/>
        </a:font>
        <a:schemeClr val="dk1"/>
      </a:tcTxStyle>
      <a:tcStyle>
        <a:tcBdr>
          <a:left>
            <a:ln w="12700" cap="flat" cmpd="sng">
              <a:solidFill>
                <a:schemeClr val="dk1"/>
              </a:solidFill>
              <a:prstDash val="solid"/>
              <a:round/>
              <a:headEnd type="none" w="sm" len="sm"/>
              <a:tailEnd type="none" w="sm" len="sm"/>
            </a:ln>
          </a:left>
          <a:right>
            <a:ln w="12700" cap="flat" cmpd="sng">
              <a:solidFill>
                <a:schemeClr val="dk1"/>
              </a:solidFill>
              <a:prstDash val="solid"/>
              <a:round/>
              <a:headEnd type="none" w="sm" len="sm"/>
              <a:tailEnd type="none" w="sm" len="sm"/>
            </a:ln>
          </a:right>
          <a:top>
            <a:ln w="12700" cap="flat" cmpd="sng">
              <a:solidFill>
                <a:schemeClr val="dk1"/>
              </a:solidFill>
              <a:prstDash val="solid"/>
              <a:round/>
              <a:headEnd type="none" w="sm" len="sm"/>
              <a:tailEnd type="none" w="sm" len="sm"/>
            </a:ln>
          </a:top>
          <a:bottom>
            <a:ln w="12700" cap="flat" cmpd="sng">
              <a:solidFill>
                <a:schemeClr val="dk1"/>
              </a:solidFill>
              <a:prstDash val="solid"/>
              <a:round/>
              <a:headEnd type="none" w="sm" len="sm"/>
              <a:tailEnd type="none" w="sm" len="sm"/>
            </a:ln>
          </a:bottom>
          <a:insideH>
            <a:ln w="12700" cap="flat" cmpd="sng">
              <a:solidFill>
                <a:schemeClr val="dk1"/>
              </a:solidFill>
              <a:prstDash val="solid"/>
              <a:round/>
              <a:headEnd type="none" w="sm" len="sm"/>
              <a:tailEnd type="none" w="sm" len="sm"/>
            </a:ln>
          </a:insideH>
          <a:insideV>
            <a:ln w="12700" cap="flat" cmpd="sng">
              <a:solidFill>
                <a:schemeClr val="dk1"/>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FA376B42-5B4D-4A95-80B0-B5B1E67FD56F}" styleName="Table_6">
    <a:wholeTbl>
      <a:tcTxStyle b="off" i="off">
        <a:font>
          <a:latin typeface="Arial"/>
          <a:ea typeface="Arial"/>
          <a:cs typeface="Arial"/>
        </a:font>
        <a:srgbClr val="282828"/>
      </a:tcTxStyle>
      <a:tcStyle>
        <a:tcBdr>
          <a:left>
            <a:ln w="12700" cap="flat" cmpd="sng">
              <a:solidFill>
                <a:srgbClr val="FFFFFF"/>
              </a:solidFill>
              <a:prstDash val="solid"/>
              <a:round/>
              <a:headEnd type="none" w="sm" len="sm"/>
              <a:tailEnd type="none" w="sm" len="sm"/>
            </a:ln>
          </a:left>
          <a:right>
            <a:ln w="12700" cap="flat" cmpd="sng">
              <a:solidFill>
                <a:srgbClr val="FFFFFF"/>
              </a:solidFill>
              <a:prstDash val="solid"/>
              <a:round/>
              <a:headEnd type="none" w="sm" len="sm"/>
              <a:tailEnd type="none" w="sm" len="sm"/>
            </a:ln>
          </a:right>
          <a:top>
            <a:ln w="12700" cap="flat" cmpd="sng">
              <a:solidFill>
                <a:srgbClr val="FFFFFF"/>
              </a:solidFill>
              <a:prstDash val="solid"/>
              <a:round/>
              <a:headEnd type="none" w="sm" len="sm"/>
              <a:tailEnd type="none" w="sm" len="sm"/>
            </a:ln>
          </a:top>
          <a:bottom>
            <a:ln w="12700" cap="flat" cmpd="sng">
              <a:solidFill>
                <a:srgbClr val="FFFFFF"/>
              </a:solidFill>
              <a:prstDash val="solid"/>
              <a:round/>
              <a:headEnd type="none" w="sm" len="sm"/>
              <a:tailEnd type="none" w="sm" len="sm"/>
            </a:ln>
          </a:bottom>
          <a:insideH>
            <a:ln w="12700" cap="flat" cmpd="sng">
              <a:solidFill>
                <a:srgbClr val="FFFFFF"/>
              </a:solidFill>
              <a:prstDash val="solid"/>
              <a:round/>
              <a:headEnd type="none" w="sm" len="sm"/>
              <a:tailEnd type="none" w="sm" len="sm"/>
            </a:ln>
          </a:insideH>
          <a:insideV>
            <a:ln w="12700" cap="flat" cmpd="sng">
              <a:solidFill>
                <a:srgbClr val="FFFFFF"/>
              </a:solidFill>
              <a:prstDash val="solid"/>
              <a:round/>
              <a:headEnd type="none" w="sm" len="sm"/>
              <a:tailEnd type="none" w="sm" len="sm"/>
            </a:ln>
          </a:insideV>
        </a:tcBdr>
        <a:fill>
          <a:solidFill>
            <a:srgbClr val="FFF5E7"/>
          </a:solidFill>
        </a:fill>
      </a:tcStyle>
    </a:wholeTbl>
    <a:band1H>
      <a:tcTxStyle/>
      <a:tcStyle>
        <a:tcBdr/>
        <a:fill>
          <a:solidFill>
            <a:srgbClr val="FFEACC"/>
          </a:solidFill>
        </a:fill>
      </a:tcStyle>
    </a:band1H>
    <a:band2H>
      <a:tcTxStyle/>
      <a:tcStyle>
        <a:tcBdr/>
      </a:tcStyle>
    </a:band2H>
    <a:band1V>
      <a:tcTxStyle/>
      <a:tcStyle>
        <a:tcBdr/>
        <a:fill>
          <a:solidFill>
            <a:srgbClr val="FFEACC"/>
          </a:solidFill>
        </a:fill>
      </a:tcStyle>
    </a:band1V>
    <a:band2V>
      <a:tcTxStyle/>
      <a:tcStyle>
        <a:tcBdr/>
      </a:tcStyle>
    </a:band2V>
    <a:lastCol>
      <a:tcTxStyle b="on" i="off">
        <a:font>
          <a:latin typeface="Arial"/>
          <a:ea typeface="Arial"/>
          <a:cs typeface="Arial"/>
        </a:font>
        <a:srgbClr val="FFFFFF"/>
      </a:tcTxStyle>
      <a:tcStyle>
        <a:tcBdr/>
        <a:fill>
          <a:solidFill>
            <a:srgbClr val="FFC639"/>
          </a:solidFill>
        </a:fill>
      </a:tcStyle>
    </a:lastCol>
    <a:firstCol>
      <a:tcTxStyle b="on" i="off">
        <a:font>
          <a:latin typeface="Arial"/>
          <a:ea typeface="Arial"/>
          <a:cs typeface="Arial"/>
        </a:font>
        <a:srgbClr val="FFFFFF"/>
      </a:tcTxStyle>
      <a:tcStyle>
        <a:tcBdr/>
        <a:fill>
          <a:solidFill>
            <a:srgbClr val="FFC639"/>
          </a:solidFill>
        </a:fill>
      </a:tcStyle>
    </a:firstCol>
    <a:lastRow>
      <a:tcTxStyle b="on" i="off">
        <a:font>
          <a:latin typeface="Arial"/>
          <a:ea typeface="Arial"/>
          <a:cs typeface="Arial"/>
        </a:font>
        <a:srgbClr val="FFFFFF"/>
      </a:tcTxStyle>
      <a:tcStyle>
        <a:tcBdr>
          <a:top>
            <a:ln w="38100" cap="flat" cmpd="sng">
              <a:solidFill>
                <a:srgbClr val="FFFFFF"/>
              </a:solidFill>
              <a:prstDash val="solid"/>
              <a:round/>
              <a:headEnd type="none" w="sm" len="sm"/>
              <a:tailEnd type="none" w="sm" len="sm"/>
            </a:ln>
          </a:top>
        </a:tcBdr>
        <a:fill>
          <a:solidFill>
            <a:srgbClr val="FFC639"/>
          </a:solidFill>
        </a:fill>
      </a:tcStyle>
    </a:lastRow>
    <a:seCell>
      <a:tcTxStyle/>
      <a:tcStyle>
        <a:tcBdr/>
      </a:tcStyle>
    </a:seCell>
    <a:swCell>
      <a:tcTxStyle/>
      <a:tcStyle>
        <a:tcBdr/>
      </a:tcStyle>
    </a:swCell>
    <a:firstRow>
      <a:tcTxStyle b="on" i="off">
        <a:font>
          <a:latin typeface="Arial"/>
          <a:ea typeface="Arial"/>
          <a:cs typeface="Arial"/>
        </a:font>
        <a:srgbClr val="FFFFFF"/>
      </a:tcTxStyle>
      <a:tcStyle>
        <a:tcBdr>
          <a:bottom>
            <a:ln w="38100" cap="flat" cmpd="sng">
              <a:solidFill>
                <a:srgbClr val="FFFFFF"/>
              </a:solidFill>
              <a:prstDash val="solid"/>
              <a:round/>
              <a:headEnd type="none" w="sm" len="sm"/>
              <a:tailEnd type="none" w="sm" len="sm"/>
            </a:ln>
          </a:bottom>
        </a:tcBdr>
        <a:fill>
          <a:solidFill>
            <a:srgbClr val="FFC639"/>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1" autoAdjust="0"/>
    <p:restoredTop sz="94660"/>
  </p:normalViewPr>
  <p:slideViewPr>
    <p:cSldViewPr snapToGrid="0">
      <p:cViewPr varScale="1">
        <p:scale>
          <a:sx n="63" d="100"/>
          <a:sy n="63" d="100"/>
        </p:scale>
        <p:origin x="804" y="52"/>
      </p:cViewPr>
      <p:guideLst/>
    </p:cSldViewPr>
  </p:slideViewPr>
  <p:notesTextViewPr>
    <p:cViewPr>
      <p:scale>
        <a:sx n="1" d="1"/>
        <a:sy n="1" d="1"/>
      </p:scale>
      <p:origin x="0" y="0"/>
    </p:cViewPr>
  </p:notesTextViewPr>
  <p:notesViewPr>
    <p:cSldViewPr snapToGrid="0">
      <p:cViewPr varScale="1">
        <p:scale>
          <a:sx n="66" d="100"/>
          <a:sy n="66" d="100"/>
        </p:scale>
        <p:origin x="3330" y="66"/>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font" Target="fonts/font3.fntdata"/><Relationship Id="rId26" Type="http://schemas.openxmlformats.org/officeDocument/2006/relationships/font" Target="fonts/font11.fntdata"/><Relationship Id="rId21" Type="http://schemas.openxmlformats.org/officeDocument/2006/relationships/font" Target="fonts/font6.fntdata"/><Relationship Id="rId34" Type="http://schemas.openxmlformats.org/officeDocument/2006/relationships/font" Target="fonts/font19.fntdata"/><Relationship Id="rId89" Type="http://schemas.openxmlformats.org/officeDocument/2006/relationships/presProps" Target="presProps.xml"/><Relationship Id="rId7" Type="http://schemas.openxmlformats.org/officeDocument/2006/relationships/slide" Target="slides/slide6.xml"/><Relationship Id="rId92"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font" Target="fonts/font5.fntdata"/><Relationship Id="rId29" Type="http://schemas.openxmlformats.org/officeDocument/2006/relationships/font" Target="fonts/font14.fntdata"/><Relationship Id="rId88" Type="http://schemas.openxmlformats.org/officeDocument/2006/relationships/commentAuthors" Target="commentAuthors.xml"/><Relationship Id="rId9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9.fntdata"/><Relationship Id="rId32" Type="http://schemas.openxmlformats.org/officeDocument/2006/relationships/font" Target="fonts/font17.fntdata"/><Relationship Id="rId87" Type="http://customschemas.google.com/relationships/presentationmetadata" Target="metadata"/><Relationship Id="rId5" Type="http://schemas.openxmlformats.org/officeDocument/2006/relationships/slide" Target="slides/slide4.xml"/><Relationship Id="rId15" Type="http://schemas.openxmlformats.org/officeDocument/2006/relationships/handoutMaster" Target="handoutMasters/handoutMaster1.xml"/><Relationship Id="rId23" Type="http://schemas.openxmlformats.org/officeDocument/2006/relationships/font" Target="fonts/font8.fntdata"/><Relationship Id="rId28" Type="http://schemas.openxmlformats.org/officeDocument/2006/relationships/font" Target="fonts/font13.fntdata"/><Relationship Id="rId90"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4.fntdata"/><Relationship Id="rId31" Type="http://schemas.openxmlformats.org/officeDocument/2006/relationships/font" Target="fonts/font1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openxmlformats.org/officeDocument/2006/relationships/font" Target="fonts/font7.fntdata"/><Relationship Id="rId27" Type="http://schemas.openxmlformats.org/officeDocument/2006/relationships/font" Target="fonts/font12.fntdata"/><Relationship Id="rId30" Type="http://schemas.openxmlformats.org/officeDocument/2006/relationships/font" Target="fonts/font15.fntdata"/><Relationship Id="rId35" Type="http://schemas.openxmlformats.org/officeDocument/2006/relationships/tags" Target="tags/tag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font" Target="fonts/font2.fntdata"/><Relationship Id="rId25" Type="http://schemas.openxmlformats.org/officeDocument/2006/relationships/font" Target="fonts/font10.fntdata"/><Relationship Id="rId33" Type="http://schemas.openxmlformats.org/officeDocument/2006/relationships/font" Target="fonts/font18.fntdata"/></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755F02E-3C08-AE1E-8586-E8E7CD09905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a:extLst>
              <a:ext uri="{FF2B5EF4-FFF2-40B4-BE49-F238E27FC236}">
                <a16:creationId xmlns:a16="http://schemas.microsoft.com/office/drawing/2014/main" id="{87E25FAD-57C3-48A0-8DDC-E6630F16213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7014F2F-8EAD-49A7-A8EF-9A8E9DCC375B}" type="datetimeFigureOut">
              <a:rPr lang="en-IN" smtClean="0"/>
              <a:t>26-09-2025</a:t>
            </a:fld>
            <a:endParaRPr lang="en-IN"/>
          </a:p>
        </p:txBody>
      </p:sp>
      <p:sp>
        <p:nvSpPr>
          <p:cNvPr id="4" name="Footer Placeholder 3">
            <a:extLst>
              <a:ext uri="{FF2B5EF4-FFF2-40B4-BE49-F238E27FC236}">
                <a16:creationId xmlns:a16="http://schemas.microsoft.com/office/drawing/2014/main" id="{2965DB5B-4D1B-4F17-4428-BC3F4594214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a:extLst>
              <a:ext uri="{FF2B5EF4-FFF2-40B4-BE49-F238E27FC236}">
                <a16:creationId xmlns:a16="http://schemas.microsoft.com/office/drawing/2014/main" id="{8B6874CE-76D5-C303-BA82-2A7E796E0B5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8454583-99CA-4BB1-8621-21CE87B92BEE}" type="slidenum">
              <a:rPr lang="en-IN" smtClean="0"/>
              <a:t>‹#›</a:t>
            </a:fld>
            <a:endParaRPr lang="en-IN"/>
          </a:p>
        </p:txBody>
      </p:sp>
    </p:spTree>
    <p:extLst>
      <p:ext uri="{BB962C8B-B14F-4D97-AF65-F5344CB8AC3E}">
        <p14:creationId xmlns:p14="http://schemas.microsoft.com/office/powerpoint/2010/main" val="132723353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Plus Jakarta Sans"/>
                <a:ea typeface="Plus Jakarta Sans"/>
                <a:cs typeface="Plus Jakarta Sans"/>
                <a:sym typeface="Plus Jakarta Sa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Plus Jakarta Sans"/>
                <a:ea typeface="Plus Jakarta Sans"/>
                <a:cs typeface="Plus Jakarta Sans"/>
                <a:sym typeface="Plus Jakarta Sa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Plus Jakarta Sans"/>
                <a:ea typeface="Plus Jakarta Sans"/>
                <a:cs typeface="Plus Jakarta Sans"/>
                <a:sym typeface="Plus Jakarta Sans"/>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Plus Jakarta Sans"/>
                <a:ea typeface="Plus Jakarta Sans"/>
                <a:cs typeface="Plus Jakarta Sans"/>
                <a:sym typeface="Plus Jakarta Sans"/>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Plus Jakarta Sans"/>
                <a:ea typeface="Plus Jakarta Sans"/>
                <a:cs typeface="Plus Jakarta Sans"/>
                <a:sym typeface="Plus Jakarta Sans"/>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Plus Jakarta Sans"/>
                <a:ea typeface="Plus Jakarta Sans"/>
                <a:cs typeface="Plus Jakarta Sans"/>
                <a:sym typeface="Plus Jakarta Sans"/>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Plus Jakarta Sans"/>
                <a:ea typeface="Plus Jakarta Sans"/>
                <a:cs typeface="Plus Jakarta Sans"/>
                <a:sym typeface="Plus Jakarta Sans"/>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Plus Jakarta Sans"/>
                <a:ea typeface="Plus Jakarta Sans"/>
                <a:cs typeface="Plus Jakarta Sans"/>
                <a:sym typeface="Plus Jakarta Sa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Plus Jakarta Sans"/>
                <a:ea typeface="Plus Jakarta Sans"/>
                <a:cs typeface="Plus Jakarta Sans"/>
                <a:sym typeface="Plus Jakarta Sans"/>
              </a:rPr>
              <a:t>‹#›</a:t>
            </a:fld>
            <a:endParaRPr sz="1200" b="0" i="0" u="none" strike="noStrike" cap="none">
              <a:solidFill>
                <a:schemeClr val="dk1"/>
              </a:solidFill>
              <a:latin typeface="Plus Jakarta Sans"/>
              <a:ea typeface="Plus Jakarta Sans"/>
              <a:cs typeface="Plus Jakarta Sans"/>
              <a:sym typeface="Plus Jakarta Sans"/>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a:extLst>
            <a:ext uri="{FF2B5EF4-FFF2-40B4-BE49-F238E27FC236}">
              <a16:creationId xmlns:a16="http://schemas.microsoft.com/office/drawing/2014/main" id="{4F5DA2E6-7F22-4241-BC20-FFB750256F3F}"/>
            </a:ext>
          </a:extLst>
        </p:cNvPr>
        <p:cNvGrpSpPr/>
        <p:nvPr/>
      </p:nvGrpSpPr>
      <p:grpSpPr>
        <a:xfrm>
          <a:off x="0" y="0"/>
          <a:ext cx="0" cy="0"/>
          <a:chOff x="0" y="0"/>
          <a:chExt cx="0" cy="0"/>
        </a:xfrm>
      </p:grpSpPr>
      <p:sp>
        <p:nvSpPr>
          <p:cNvPr id="108" name="Google Shape;108;p76:notes">
            <a:extLst>
              <a:ext uri="{FF2B5EF4-FFF2-40B4-BE49-F238E27FC236}">
                <a16:creationId xmlns:a16="http://schemas.microsoft.com/office/drawing/2014/main" id="{D982CAA8-A962-C840-8D2B-A34EF391996E}"/>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9" name="Google Shape;109;p76:notes">
            <a:extLst>
              <a:ext uri="{FF2B5EF4-FFF2-40B4-BE49-F238E27FC236}">
                <a16:creationId xmlns:a16="http://schemas.microsoft.com/office/drawing/2014/main" id="{9C1CB7E4-6815-AC32-2B8D-06EDAD164CF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2669549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a:extLst>
            <a:ext uri="{FF2B5EF4-FFF2-40B4-BE49-F238E27FC236}">
              <a16:creationId xmlns:a16="http://schemas.microsoft.com/office/drawing/2014/main" id="{9E058B08-58E6-9F0F-DF87-5DED49A0DB0E}"/>
            </a:ext>
          </a:extLst>
        </p:cNvPr>
        <p:cNvGrpSpPr/>
        <p:nvPr/>
      </p:nvGrpSpPr>
      <p:grpSpPr>
        <a:xfrm>
          <a:off x="0" y="0"/>
          <a:ext cx="0" cy="0"/>
          <a:chOff x="0" y="0"/>
          <a:chExt cx="0" cy="0"/>
        </a:xfrm>
      </p:grpSpPr>
      <p:sp>
        <p:nvSpPr>
          <p:cNvPr id="108" name="Google Shape;108;p76:notes">
            <a:extLst>
              <a:ext uri="{FF2B5EF4-FFF2-40B4-BE49-F238E27FC236}">
                <a16:creationId xmlns:a16="http://schemas.microsoft.com/office/drawing/2014/main" id="{53096C82-8867-D00C-A568-BCD7CB58DAAC}"/>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9" name="Google Shape;109;p76:notes">
            <a:extLst>
              <a:ext uri="{FF2B5EF4-FFF2-40B4-BE49-F238E27FC236}">
                <a16:creationId xmlns:a16="http://schemas.microsoft.com/office/drawing/2014/main" id="{BAA3ED4A-F4DD-BC77-8BF5-0B54F9756B5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7406798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9"/>
        <p:cNvGrpSpPr/>
        <p:nvPr/>
      </p:nvGrpSpPr>
      <p:grpSpPr>
        <a:xfrm>
          <a:off x="0" y="0"/>
          <a:ext cx="0" cy="0"/>
          <a:chOff x="0" y="0"/>
          <a:chExt cx="0" cy="0"/>
        </a:xfrm>
      </p:grpSpPr>
      <p:sp>
        <p:nvSpPr>
          <p:cNvPr id="740" name="Google Shape;740;g2fee63df26b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41" name="Google Shape;741;g2fee63df26b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Custom Layout">
  <p:cSld name="1_Custom Layout">
    <p:spTree>
      <p:nvGrpSpPr>
        <p:cNvPr id="1" name="Shape 23"/>
        <p:cNvGrpSpPr/>
        <p:nvPr/>
      </p:nvGrpSpPr>
      <p:grpSpPr>
        <a:xfrm>
          <a:off x="0" y="0"/>
          <a:ext cx="0" cy="0"/>
          <a:chOff x="0" y="0"/>
          <a:chExt cx="0" cy="0"/>
        </a:xfrm>
      </p:grpSpPr>
      <p:sp>
        <p:nvSpPr>
          <p:cNvPr id="24" name="Google Shape;24;p48"/>
          <p:cNvSpPr>
            <a:spLocks noGrp="1"/>
          </p:cNvSpPr>
          <p:nvPr>
            <p:ph type="pic" idx="2"/>
          </p:nvPr>
        </p:nvSpPr>
        <p:spPr>
          <a:xfrm>
            <a:off x="0" y="0"/>
            <a:ext cx="12192000" cy="6858000"/>
          </a:xfrm>
          <a:prstGeom prst="rect">
            <a:avLst/>
          </a:prstGeom>
          <a:solidFill>
            <a:srgbClr val="F2F2F2"/>
          </a:solidFill>
          <a:ln>
            <a:noFill/>
          </a:ln>
        </p:spPr>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29_Title Slide">
  <p:cSld name="29_Title Slide">
    <p:spTree>
      <p:nvGrpSpPr>
        <p:cNvPr id="1" name="Shape 25"/>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General Content">
  <p:cSld name="General Content">
    <p:spTree>
      <p:nvGrpSpPr>
        <p:cNvPr id="1" name="Shape 26"/>
        <p:cNvGrpSpPr/>
        <p:nvPr/>
      </p:nvGrpSpPr>
      <p:grpSpPr>
        <a:xfrm>
          <a:off x="0" y="0"/>
          <a:ext cx="0" cy="0"/>
          <a:chOff x="0" y="0"/>
          <a:chExt cx="0" cy="0"/>
        </a:xfrm>
      </p:grpSpPr>
      <p:sp>
        <p:nvSpPr>
          <p:cNvPr id="27" name="Google Shape;27;g2f68141a545_0_445"/>
          <p:cNvSpPr/>
          <p:nvPr/>
        </p:nvSpPr>
        <p:spPr>
          <a:xfrm>
            <a:off x="0" y="2689"/>
            <a:ext cx="688500" cy="6858000"/>
          </a:xfrm>
          <a:prstGeom prst="rect">
            <a:avLst/>
          </a:prstGeom>
          <a:solidFill>
            <a:srgbClr val="059AB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8" name="Google Shape;28;g2f68141a545_0_445"/>
          <p:cNvSpPr txBox="1">
            <a:spLocks noGrp="1"/>
          </p:cNvSpPr>
          <p:nvPr>
            <p:ph type="title"/>
          </p:nvPr>
        </p:nvSpPr>
        <p:spPr>
          <a:xfrm>
            <a:off x="850492" y="245369"/>
            <a:ext cx="7572600" cy="531000"/>
          </a:xfrm>
          <a:prstGeom prst="rect">
            <a:avLst/>
          </a:prstGeom>
          <a:noFill/>
          <a:ln>
            <a:noFill/>
          </a:ln>
        </p:spPr>
        <p:txBody>
          <a:bodyPr spcFirstLastPara="1" wrap="square" lIns="91425" tIns="45700" rIns="91425" bIns="45700" anchor="b" anchorCtr="0">
            <a:noAutofit/>
          </a:bodyPr>
          <a:lstStyle>
            <a:lvl1pPr marR="0" lvl="0" algn="l" rtl="0">
              <a:lnSpc>
                <a:spcPct val="90000"/>
              </a:lnSpc>
              <a:spcBef>
                <a:spcPts val="0"/>
              </a:spcBef>
              <a:spcAft>
                <a:spcPts val="0"/>
              </a:spcAft>
              <a:buClr>
                <a:srgbClr val="037692"/>
              </a:buClr>
              <a:buSzPts val="2400"/>
              <a:buFont typeface="Poppins SemiBold"/>
              <a:buNone/>
              <a:defRPr sz="2400" b="0" i="0" u="none" strike="noStrike" cap="none">
                <a:solidFill>
                  <a:srgbClr val="037692"/>
                </a:solidFill>
                <a:latin typeface="Poppins SemiBold"/>
                <a:ea typeface="Poppins SemiBold"/>
                <a:cs typeface="Poppins SemiBold"/>
                <a:sym typeface="Poppins SemiBold"/>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pic>
        <p:nvPicPr>
          <p:cNvPr id="29" name="Google Shape;29;g2f68141a545_0_445"/>
          <p:cNvPicPr preferRelativeResize="0"/>
          <p:nvPr/>
        </p:nvPicPr>
        <p:blipFill rotWithShape="1">
          <a:blip r:embed="rId2">
            <a:alphaModFix/>
          </a:blip>
          <a:srcRect/>
          <a:stretch/>
        </p:blipFill>
        <p:spPr>
          <a:xfrm flipH="1">
            <a:off x="850490" y="902171"/>
            <a:ext cx="790813" cy="48294"/>
          </a:xfrm>
          <a:prstGeom prst="rect">
            <a:avLst/>
          </a:prstGeom>
          <a:noFill/>
          <a:ln>
            <a:noFill/>
          </a:ln>
        </p:spPr>
      </p:pic>
      <p:pic>
        <p:nvPicPr>
          <p:cNvPr id="30" name="Google Shape;30;g2f68141a545_0_445"/>
          <p:cNvPicPr preferRelativeResize="0"/>
          <p:nvPr/>
        </p:nvPicPr>
        <p:blipFill rotWithShape="1">
          <a:blip r:embed="rId3">
            <a:alphaModFix/>
          </a:blip>
          <a:srcRect/>
          <a:stretch/>
        </p:blipFill>
        <p:spPr>
          <a:xfrm>
            <a:off x="1010470" y="5707756"/>
            <a:ext cx="805981" cy="904875"/>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25_Title Slide">
  <p:cSld name="25_Title Slide">
    <p:spTree>
      <p:nvGrpSpPr>
        <p:cNvPr id="1" name="Shape 31"/>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32"/>
        <p:cNvGrpSpPr/>
        <p:nvPr/>
      </p:nvGrpSpPr>
      <p:grpSpPr>
        <a:xfrm>
          <a:off x="0" y="0"/>
          <a:ext cx="0" cy="0"/>
          <a:chOff x="0" y="0"/>
          <a:chExt cx="0" cy="0"/>
        </a:xfrm>
      </p:grpSpPr>
      <p:sp>
        <p:nvSpPr>
          <p:cNvPr id="33" name="Google Shape;33;g27884b107a2_2_166"/>
          <p:cNvSpPr txBox="1">
            <a:spLocks noGrp="1"/>
          </p:cNvSpPr>
          <p:nvPr>
            <p:ph type="title"/>
          </p:nvPr>
        </p:nvSpPr>
        <p:spPr>
          <a:xfrm>
            <a:off x="415600" y="593367"/>
            <a:ext cx="11360700" cy="763500"/>
          </a:xfrm>
          <a:prstGeom prst="rect">
            <a:avLst/>
          </a:prstGeom>
          <a:noFill/>
          <a:ln>
            <a:noFill/>
          </a:ln>
        </p:spPr>
        <p:txBody>
          <a:bodyPr spcFirstLastPara="1" wrap="square" lIns="91425" tIns="91425" rIns="91425" bIns="91425" anchor="t" anchorCtr="0">
            <a:normAutofit/>
          </a:bodyPr>
          <a:lstStyle>
            <a:lvl1pPr marR="0" lvl="0" algn="l" rtl="0">
              <a:lnSpc>
                <a:spcPct val="90000"/>
              </a:lnSpc>
              <a:spcBef>
                <a:spcPts val="0"/>
              </a:spcBef>
              <a:spcAft>
                <a:spcPts val="0"/>
              </a:spcAft>
              <a:buClr>
                <a:schemeClr val="dk1"/>
              </a:buClr>
              <a:buSzPts val="2800"/>
              <a:buFont typeface="Arial"/>
              <a:buNone/>
              <a:defRPr sz="1400" b="0" i="0" u="none" strike="noStrike" cap="none">
                <a:solidFill>
                  <a:srgbClr val="000000"/>
                </a:solidFill>
                <a:latin typeface="Aharoni"/>
                <a:ea typeface="Aharoni"/>
                <a:cs typeface="Aharoni"/>
                <a:sym typeface="Aharoni"/>
              </a:defRPr>
            </a:lvl1pPr>
            <a:lvl2pPr marR="0" lvl="1" algn="l" rtl="0">
              <a:lnSpc>
                <a:spcPct val="100000"/>
              </a:lnSpc>
              <a:spcBef>
                <a:spcPts val="0"/>
              </a:spcBef>
              <a:spcAft>
                <a:spcPts val="0"/>
              </a:spcAft>
              <a:buClr>
                <a:srgbClr val="000000"/>
              </a:buClr>
              <a:buSzPts val="28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28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28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28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28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28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28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2800"/>
              <a:buFont typeface="Arial"/>
              <a:buNone/>
              <a:defRPr sz="1400" b="0" i="0" u="none" strike="noStrike" cap="none">
                <a:solidFill>
                  <a:srgbClr val="000000"/>
                </a:solidFill>
                <a:latin typeface="Arial"/>
                <a:ea typeface="Arial"/>
                <a:cs typeface="Arial"/>
                <a:sym typeface="Arial"/>
              </a:defRPr>
            </a:lvl9pPr>
          </a:lstStyle>
          <a:p>
            <a:endParaRPr/>
          </a:p>
        </p:txBody>
      </p:sp>
      <p:sp>
        <p:nvSpPr>
          <p:cNvPr id="34" name="Google Shape;34;g27884b107a2_2_166"/>
          <p:cNvSpPr txBox="1">
            <a:spLocks noGrp="1"/>
          </p:cNvSpPr>
          <p:nvPr>
            <p:ph type="body" idx="1"/>
          </p:nvPr>
        </p:nvSpPr>
        <p:spPr>
          <a:xfrm>
            <a:off x="415600" y="1536633"/>
            <a:ext cx="11360700" cy="45552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20000"/>
              </a:lnSpc>
              <a:spcBef>
                <a:spcPts val="0"/>
              </a:spcBef>
              <a:spcAft>
                <a:spcPts val="0"/>
              </a:spcAft>
              <a:buClr>
                <a:schemeClr val="dk1"/>
              </a:buClr>
              <a:buSzPts val="1800"/>
              <a:buFont typeface="Arial"/>
              <a:buChar char="●"/>
              <a:defRPr sz="1400" b="0" i="0" u="none" strike="noStrike" cap="none">
                <a:solidFill>
                  <a:srgbClr val="000000"/>
                </a:solidFill>
                <a:latin typeface="Aharoni"/>
                <a:ea typeface="Aharoni"/>
                <a:cs typeface="Aharoni"/>
                <a:sym typeface="Aharoni"/>
              </a:defRPr>
            </a:lvl1pPr>
            <a:lvl2pPr marL="914400" marR="0" lvl="1" indent="-317500" algn="l" rtl="0">
              <a:lnSpc>
                <a:spcPct val="120000"/>
              </a:lnSpc>
              <a:spcBef>
                <a:spcPts val="0"/>
              </a:spcBef>
              <a:spcAft>
                <a:spcPts val="0"/>
              </a:spcAft>
              <a:buClr>
                <a:schemeClr val="dk1"/>
              </a:buClr>
              <a:buSzPts val="1400"/>
              <a:buFont typeface="Arial"/>
              <a:buChar char="○"/>
              <a:defRPr sz="1400" b="0" i="0" u="none" strike="noStrike" cap="none">
                <a:solidFill>
                  <a:srgbClr val="000000"/>
                </a:solidFill>
                <a:latin typeface="Arial"/>
                <a:ea typeface="Arial"/>
                <a:cs typeface="Arial"/>
                <a:sym typeface="Arial"/>
              </a:defRPr>
            </a:lvl2pPr>
            <a:lvl3pPr marL="1371600" marR="0" lvl="2" indent="-317500" algn="l" rtl="0">
              <a:lnSpc>
                <a:spcPct val="120000"/>
              </a:lnSpc>
              <a:spcBef>
                <a:spcPts val="0"/>
              </a:spcBef>
              <a:spcAft>
                <a:spcPts val="0"/>
              </a:spcAft>
              <a:buClr>
                <a:schemeClr val="dk1"/>
              </a:buClr>
              <a:buSzPts val="1400"/>
              <a:buFont typeface="Arial"/>
              <a:buChar char="■"/>
              <a:defRPr sz="1400" b="0" i="0" u="none" strike="noStrike" cap="none">
                <a:solidFill>
                  <a:srgbClr val="000000"/>
                </a:solidFill>
                <a:latin typeface="Arial"/>
                <a:ea typeface="Arial"/>
                <a:cs typeface="Arial"/>
                <a:sym typeface="Arial"/>
              </a:defRPr>
            </a:lvl3pPr>
            <a:lvl4pPr marL="1828800" marR="0" lvl="3" indent="-317500" algn="l" rtl="0">
              <a:lnSpc>
                <a:spcPct val="120000"/>
              </a:lnSpc>
              <a:spcBef>
                <a:spcPts val="0"/>
              </a:spcBef>
              <a:spcAft>
                <a:spcPts val="0"/>
              </a:spcAft>
              <a:buClr>
                <a:schemeClr val="dk1"/>
              </a:buClr>
              <a:buSzPts val="1400"/>
              <a:buFont typeface="Arial"/>
              <a:buChar char="●"/>
              <a:defRPr sz="1400" b="0" i="0" u="none" strike="noStrike" cap="none">
                <a:solidFill>
                  <a:srgbClr val="000000"/>
                </a:solidFill>
                <a:latin typeface="Arial"/>
                <a:ea typeface="Arial"/>
                <a:cs typeface="Arial"/>
                <a:sym typeface="Arial"/>
              </a:defRPr>
            </a:lvl4pPr>
            <a:lvl5pPr marL="2286000" marR="0" lvl="4" indent="-317500" algn="l" rtl="0">
              <a:lnSpc>
                <a:spcPct val="120000"/>
              </a:lnSpc>
              <a:spcBef>
                <a:spcPts val="0"/>
              </a:spcBef>
              <a:spcAft>
                <a:spcPts val="0"/>
              </a:spcAft>
              <a:buClr>
                <a:schemeClr val="dk1"/>
              </a:buClr>
              <a:buSzPts val="1400"/>
              <a:buFont typeface="Arial"/>
              <a:buChar char="○"/>
              <a:defRPr sz="1400" b="0" i="0" u="none" strike="noStrike" cap="none">
                <a:solidFill>
                  <a:srgbClr val="000000"/>
                </a:solidFill>
                <a:latin typeface="Arial"/>
                <a:ea typeface="Arial"/>
                <a:cs typeface="Arial"/>
                <a:sym typeface="Arial"/>
              </a:defRPr>
            </a:lvl5pPr>
            <a:lvl6pPr marL="2743200" marR="0" lvl="5" indent="-317500" algn="l" rtl="0">
              <a:lnSpc>
                <a:spcPct val="90000"/>
              </a:lnSpc>
              <a:spcBef>
                <a:spcPts val="0"/>
              </a:spcBef>
              <a:spcAft>
                <a:spcPts val="0"/>
              </a:spcAft>
              <a:buClr>
                <a:schemeClr val="dk1"/>
              </a:buClr>
              <a:buSzPts val="1400"/>
              <a:buFont typeface="Arial"/>
              <a:buChar char="■"/>
              <a:defRPr sz="1400" b="0" i="0" u="none" strike="noStrike" cap="none">
                <a:solidFill>
                  <a:srgbClr val="000000"/>
                </a:solidFill>
                <a:latin typeface="Arial"/>
                <a:ea typeface="Arial"/>
                <a:cs typeface="Arial"/>
                <a:sym typeface="Arial"/>
              </a:defRPr>
            </a:lvl6pPr>
            <a:lvl7pPr marL="3200400" marR="0" lvl="6" indent="-317500" algn="l" rtl="0">
              <a:lnSpc>
                <a:spcPct val="90000"/>
              </a:lnSpc>
              <a:spcBef>
                <a:spcPts val="0"/>
              </a:spcBef>
              <a:spcAft>
                <a:spcPts val="0"/>
              </a:spcAft>
              <a:buClr>
                <a:schemeClr val="dk1"/>
              </a:buClr>
              <a:buSzPts val="1400"/>
              <a:buFont typeface="Arial"/>
              <a:buChar char="●"/>
              <a:defRPr sz="1400" b="0" i="0" u="none" strike="noStrike" cap="none">
                <a:solidFill>
                  <a:srgbClr val="000000"/>
                </a:solidFill>
                <a:latin typeface="Arial"/>
                <a:ea typeface="Arial"/>
                <a:cs typeface="Arial"/>
                <a:sym typeface="Arial"/>
              </a:defRPr>
            </a:lvl7pPr>
            <a:lvl8pPr marL="3657600" marR="0" lvl="7" indent="-317500" algn="l" rtl="0">
              <a:lnSpc>
                <a:spcPct val="90000"/>
              </a:lnSpc>
              <a:spcBef>
                <a:spcPts val="0"/>
              </a:spcBef>
              <a:spcAft>
                <a:spcPts val="0"/>
              </a:spcAft>
              <a:buClr>
                <a:schemeClr val="dk1"/>
              </a:buClr>
              <a:buSzPts val="1400"/>
              <a:buFont typeface="Arial"/>
              <a:buChar char="○"/>
              <a:defRPr sz="1400" b="0" i="0" u="none" strike="noStrike" cap="none">
                <a:solidFill>
                  <a:srgbClr val="000000"/>
                </a:solidFill>
                <a:latin typeface="Arial"/>
                <a:ea typeface="Arial"/>
                <a:cs typeface="Arial"/>
                <a:sym typeface="Arial"/>
              </a:defRPr>
            </a:lvl8pPr>
            <a:lvl9pPr marL="4114800" marR="0" lvl="8" indent="-317500" algn="l" rtl="0">
              <a:lnSpc>
                <a:spcPct val="90000"/>
              </a:lnSpc>
              <a:spcBef>
                <a:spcPts val="0"/>
              </a:spcBef>
              <a:spcAft>
                <a:spcPts val="0"/>
              </a:spcAft>
              <a:buClr>
                <a:schemeClr val="dk1"/>
              </a:buClr>
              <a:buSzPts val="14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35" name="Google Shape;35;g27884b107a2_2_166"/>
          <p:cNvSpPr txBox="1">
            <a:spLocks noGrp="1"/>
          </p:cNvSpPr>
          <p:nvPr>
            <p:ph type="sldNum" idx="12"/>
          </p:nvPr>
        </p:nvSpPr>
        <p:spPr>
          <a:xfrm>
            <a:off x="11296611" y="6217623"/>
            <a:ext cx="731700" cy="5247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chemeClr val="dk1"/>
              </a:buClr>
              <a:buSzPts val="900"/>
              <a:buFont typeface="Arial"/>
              <a:buNone/>
              <a:defRPr sz="900" b="0" i="0" u="none" strike="noStrike" cap="none">
                <a:solidFill>
                  <a:schemeClr val="dk1"/>
                </a:solidFill>
                <a:latin typeface="Aharoni"/>
                <a:ea typeface="Aharoni"/>
                <a:cs typeface="Aharoni"/>
                <a:sym typeface="Aharoni"/>
              </a:defRPr>
            </a:lvl1pPr>
            <a:lvl2pPr marL="0" marR="0" lvl="1" indent="0" algn="r" rtl="0">
              <a:lnSpc>
                <a:spcPct val="100000"/>
              </a:lnSpc>
              <a:spcBef>
                <a:spcPts val="0"/>
              </a:spcBef>
              <a:spcAft>
                <a:spcPts val="0"/>
              </a:spcAft>
              <a:buClr>
                <a:schemeClr val="dk1"/>
              </a:buClr>
              <a:buSzPts val="900"/>
              <a:buFont typeface="Arial"/>
              <a:buNone/>
              <a:defRPr sz="900" b="0" i="0" u="none" strike="noStrike" cap="none">
                <a:solidFill>
                  <a:schemeClr val="dk1"/>
                </a:solidFill>
                <a:latin typeface="Aharoni"/>
                <a:ea typeface="Aharoni"/>
                <a:cs typeface="Aharoni"/>
                <a:sym typeface="Aharoni"/>
              </a:defRPr>
            </a:lvl2pPr>
            <a:lvl3pPr marL="0" marR="0" lvl="2" indent="0" algn="r" rtl="0">
              <a:lnSpc>
                <a:spcPct val="100000"/>
              </a:lnSpc>
              <a:spcBef>
                <a:spcPts val="0"/>
              </a:spcBef>
              <a:spcAft>
                <a:spcPts val="0"/>
              </a:spcAft>
              <a:buClr>
                <a:schemeClr val="dk1"/>
              </a:buClr>
              <a:buSzPts val="900"/>
              <a:buFont typeface="Arial"/>
              <a:buNone/>
              <a:defRPr sz="900" b="0" i="0" u="none" strike="noStrike" cap="none">
                <a:solidFill>
                  <a:schemeClr val="dk1"/>
                </a:solidFill>
                <a:latin typeface="Aharoni"/>
                <a:ea typeface="Aharoni"/>
                <a:cs typeface="Aharoni"/>
                <a:sym typeface="Aharoni"/>
              </a:defRPr>
            </a:lvl3pPr>
            <a:lvl4pPr marL="0" marR="0" lvl="3" indent="0" algn="r" rtl="0">
              <a:lnSpc>
                <a:spcPct val="100000"/>
              </a:lnSpc>
              <a:spcBef>
                <a:spcPts val="0"/>
              </a:spcBef>
              <a:spcAft>
                <a:spcPts val="0"/>
              </a:spcAft>
              <a:buClr>
                <a:schemeClr val="dk1"/>
              </a:buClr>
              <a:buSzPts val="900"/>
              <a:buFont typeface="Arial"/>
              <a:buNone/>
              <a:defRPr sz="900" b="0" i="0" u="none" strike="noStrike" cap="none">
                <a:solidFill>
                  <a:schemeClr val="dk1"/>
                </a:solidFill>
                <a:latin typeface="Aharoni"/>
                <a:ea typeface="Aharoni"/>
                <a:cs typeface="Aharoni"/>
                <a:sym typeface="Aharoni"/>
              </a:defRPr>
            </a:lvl4pPr>
            <a:lvl5pPr marL="0" marR="0" lvl="4" indent="0" algn="r" rtl="0">
              <a:lnSpc>
                <a:spcPct val="100000"/>
              </a:lnSpc>
              <a:spcBef>
                <a:spcPts val="0"/>
              </a:spcBef>
              <a:spcAft>
                <a:spcPts val="0"/>
              </a:spcAft>
              <a:buClr>
                <a:schemeClr val="dk1"/>
              </a:buClr>
              <a:buSzPts val="900"/>
              <a:buFont typeface="Arial"/>
              <a:buNone/>
              <a:defRPr sz="900" b="0" i="0" u="none" strike="noStrike" cap="none">
                <a:solidFill>
                  <a:schemeClr val="dk1"/>
                </a:solidFill>
                <a:latin typeface="Aharoni"/>
                <a:ea typeface="Aharoni"/>
                <a:cs typeface="Aharoni"/>
                <a:sym typeface="Aharoni"/>
              </a:defRPr>
            </a:lvl5pPr>
            <a:lvl6pPr marL="0" marR="0" lvl="5" indent="0" algn="r" rtl="0">
              <a:lnSpc>
                <a:spcPct val="100000"/>
              </a:lnSpc>
              <a:spcBef>
                <a:spcPts val="0"/>
              </a:spcBef>
              <a:spcAft>
                <a:spcPts val="0"/>
              </a:spcAft>
              <a:buClr>
                <a:schemeClr val="dk1"/>
              </a:buClr>
              <a:buSzPts val="900"/>
              <a:buFont typeface="Arial"/>
              <a:buNone/>
              <a:defRPr sz="900" b="0" i="0" u="none" strike="noStrike" cap="none">
                <a:solidFill>
                  <a:schemeClr val="dk1"/>
                </a:solidFill>
                <a:latin typeface="Aharoni"/>
                <a:ea typeface="Aharoni"/>
                <a:cs typeface="Aharoni"/>
                <a:sym typeface="Aharoni"/>
              </a:defRPr>
            </a:lvl6pPr>
            <a:lvl7pPr marL="0" marR="0" lvl="6" indent="0" algn="r" rtl="0">
              <a:lnSpc>
                <a:spcPct val="100000"/>
              </a:lnSpc>
              <a:spcBef>
                <a:spcPts val="0"/>
              </a:spcBef>
              <a:spcAft>
                <a:spcPts val="0"/>
              </a:spcAft>
              <a:buClr>
                <a:schemeClr val="dk1"/>
              </a:buClr>
              <a:buSzPts val="900"/>
              <a:buFont typeface="Arial"/>
              <a:buNone/>
              <a:defRPr sz="900" b="0" i="0" u="none" strike="noStrike" cap="none">
                <a:solidFill>
                  <a:schemeClr val="dk1"/>
                </a:solidFill>
                <a:latin typeface="Aharoni"/>
                <a:ea typeface="Aharoni"/>
                <a:cs typeface="Aharoni"/>
                <a:sym typeface="Aharoni"/>
              </a:defRPr>
            </a:lvl7pPr>
            <a:lvl8pPr marL="0" marR="0" lvl="7" indent="0" algn="r" rtl="0">
              <a:lnSpc>
                <a:spcPct val="100000"/>
              </a:lnSpc>
              <a:spcBef>
                <a:spcPts val="0"/>
              </a:spcBef>
              <a:spcAft>
                <a:spcPts val="0"/>
              </a:spcAft>
              <a:buClr>
                <a:schemeClr val="dk1"/>
              </a:buClr>
              <a:buSzPts val="900"/>
              <a:buFont typeface="Arial"/>
              <a:buNone/>
              <a:defRPr sz="900" b="0" i="0" u="none" strike="noStrike" cap="none">
                <a:solidFill>
                  <a:schemeClr val="dk1"/>
                </a:solidFill>
                <a:latin typeface="Aharoni"/>
                <a:ea typeface="Aharoni"/>
                <a:cs typeface="Aharoni"/>
                <a:sym typeface="Aharoni"/>
              </a:defRPr>
            </a:lvl8pPr>
            <a:lvl9pPr marL="0" marR="0" lvl="8" indent="0" algn="r" rtl="0">
              <a:lnSpc>
                <a:spcPct val="100000"/>
              </a:lnSpc>
              <a:spcBef>
                <a:spcPts val="0"/>
              </a:spcBef>
              <a:spcAft>
                <a:spcPts val="0"/>
              </a:spcAft>
              <a:buClr>
                <a:schemeClr val="dk1"/>
              </a:buClr>
              <a:buSzPts val="900"/>
              <a:buFont typeface="Arial"/>
              <a:buNone/>
              <a:defRPr sz="900" b="0" i="0" u="none" strike="noStrike" cap="none">
                <a:solidFill>
                  <a:schemeClr val="dk1"/>
                </a:solidFill>
                <a:latin typeface="Aharoni"/>
                <a:ea typeface="Aharoni"/>
                <a:cs typeface="Aharoni"/>
                <a:sym typeface="Aharon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ustom Layout">
  <p:cSld name="Custom Layout">
    <p:spTree>
      <p:nvGrpSpPr>
        <p:cNvPr id="1" name="Shape 36"/>
        <p:cNvGrpSpPr/>
        <p:nvPr/>
      </p:nvGrpSpPr>
      <p:grpSpPr>
        <a:xfrm>
          <a:off x="0" y="0"/>
          <a:ext cx="0" cy="0"/>
          <a:chOff x="0" y="0"/>
          <a:chExt cx="0" cy="0"/>
        </a:xfrm>
      </p:grpSpPr>
      <p:sp>
        <p:nvSpPr>
          <p:cNvPr id="37" name="Google Shape;37;g27884b107a2_0_178"/>
          <p:cNvSpPr>
            <a:spLocks noGrp="1"/>
          </p:cNvSpPr>
          <p:nvPr>
            <p:ph type="pic" idx="2"/>
          </p:nvPr>
        </p:nvSpPr>
        <p:spPr>
          <a:xfrm>
            <a:off x="1055687" y="1268413"/>
            <a:ext cx="4319700" cy="5040300"/>
          </a:xfrm>
          <a:prstGeom prst="rect">
            <a:avLst/>
          </a:prstGeom>
          <a:solidFill>
            <a:srgbClr val="F2F2F2"/>
          </a:solidFill>
          <a:ln>
            <a:no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32_Title Slide">
  <p:cSld name="32_Title Slide">
    <p:spTree>
      <p:nvGrpSpPr>
        <p:cNvPr id="1" name="Shape 38"/>
        <p:cNvGrpSpPr/>
        <p:nvPr/>
      </p:nvGrpSpPr>
      <p:grpSpPr>
        <a:xfrm>
          <a:off x="0" y="0"/>
          <a:ext cx="0" cy="0"/>
          <a:chOff x="0" y="0"/>
          <a:chExt cx="0" cy="0"/>
        </a:xfrm>
      </p:grpSpPr>
      <p:sp>
        <p:nvSpPr>
          <p:cNvPr id="39" name="Google Shape;39;p85"/>
          <p:cNvSpPr/>
          <p:nvPr/>
        </p:nvSpPr>
        <p:spPr>
          <a:xfrm>
            <a:off x="6096000" y="3753134"/>
            <a:ext cx="6096000" cy="2555591"/>
          </a:xfrm>
          <a:prstGeom prst="rect">
            <a:avLst/>
          </a:prstGeom>
          <a:gradFill>
            <a:gsLst>
              <a:gs pos="0">
                <a:schemeClr val="accent2"/>
              </a:gs>
              <a:gs pos="96000">
                <a:srgbClr val="EA641A"/>
              </a:gs>
              <a:gs pos="100000">
                <a:srgbClr val="EA641A"/>
              </a:gs>
            </a:gsLst>
            <a:lin ang="54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Plus Jakarta Sans"/>
              <a:ea typeface="Plus Jakarta Sans"/>
              <a:cs typeface="Plus Jakarta Sans"/>
              <a:sym typeface="Plus Jakarta Sans"/>
            </a:endParaRPr>
          </a:p>
        </p:txBody>
      </p:sp>
      <p:sp>
        <p:nvSpPr>
          <p:cNvPr id="40" name="Google Shape;40;p85"/>
          <p:cNvSpPr>
            <a:spLocks noGrp="1"/>
          </p:cNvSpPr>
          <p:nvPr>
            <p:ph type="pic" idx="2"/>
          </p:nvPr>
        </p:nvSpPr>
        <p:spPr>
          <a:xfrm>
            <a:off x="6816725" y="1268413"/>
            <a:ext cx="2381023" cy="2976935"/>
          </a:xfrm>
          <a:prstGeom prst="rect">
            <a:avLst/>
          </a:prstGeom>
          <a:solidFill>
            <a:srgbClr val="F2F2F2"/>
          </a:solidFill>
          <a:ln>
            <a:noFill/>
          </a:ln>
        </p:spPr>
      </p:sp>
      <p:sp>
        <p:nvSpPr>
          <p:cNvPr id="41" name="Google Shape;41;p85"/>
          <p:cNvSpPr>
            <a:spLocks noGrp="1"/>
          </p:cNvSpPr>
          <p:nvPr>
            <p:ph type="pic" idx="3"/>
          </p:nvPr>
        </p:nvSpPr>
        <p:spPr>
          <a:xfrm>
            <a:off x="9476015" y="1268413"/>
            <a:ext cx="2381023" cy="2976935"/>
          </a:xfrm>
          <a:prstGeom prst="rect">
            <a:avLst/>
          </a:prstGeom>
          <a:solidFill>
            <a:srgbClr val="F2F2F2"/>
          </a:solidFill>
          <a:ln>
            <a:no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42"/>
        <p:cNvGrpSpPr/>
        <p:nvPr/>
      </p:nvGrpSpPr>
      <p:grpSpPr>
        <a:xfrm>
          <a:off x="0" y="0"/>
          <a:ext cx="0" cy="0"/>
          <a:chOff x="0" y="0"/>
          <a:chExt cx="0" cy="0"/>
        </a:xfrm>
      </p:grpSpPr>
      <p:sp>
        <p:nvSpPr>
          <p:cNvPr id="43" name="Google Shape;43;g27884b107a2_0_115"/>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marR="0" lvl="0" algn="ctr" rtl="0">
              <a:lnSpc>
                <a:spcPct val="90000"/>
              </a:lnSpc>
              <a:spcBef>
                <a:spcPts val="0"/>
              </a:spcBef>
              <a:spcAft>
                <a:spcPts val="0"/>
              </a:spcAft>
              <a:buClr>
                <a:schemeClr val="dk1"/>
              </a:buClr>
              <a:buSzPts val="6000"/>
              <a:buFont typeface="Calibri"/>
              <a:buChar char="●"/>
              <a:defRPr sz="6000" b="0" i="0" u="none" strike="noStrike" cap="none">
                <a:solidFill>
                  <a:srgbClr val="000000"/>
                </a:solidFill>
                <a:latin typeface="Aharoni"/>
                <a:ea typeface="Aharoni"/>
                <a:cs typeface="Aharoni"/>
                <a:sym typeface="Aharoni"/>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44" name="Google Shape;44;g27884b107a2_0_115"/>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marR="0" lvl="0" algn="ctr" rtl="0">
              <a:lnSpc>
                <a:spcPct val="90000"/>
              </a:lnSpc>
              <a:spcBef>
                <a:spcPts val="1000"/>
              </a:spcBef>
              <a:spcAft>
                <a:spcPts val="0"/>
              </a:spcAft>
              <a:buClr>
                <a:schemeClr val="dk1"/>
              </a:buClr>
              <a:buSzPts val="2400"/>
              <a:buFont typeface="Arial"/>
              <a:buNone/>
              <a:defRPr sz="2400" b="0" i="0" u="none" strike="noStrike" cap="none">
                <a:solidFill>
                  <a:srgbClr val="000000"/>
                </a:solidFill>
                <a:latin typeface="Aharoni"/>
                <a:ea typeface="Aharoni"/>
                <a:cs typeface="Aharoni"/>
                <a:sym typeface="Aharoni"/>
              </a:defRPr>
            </a:lvl1pPr>
            <a:lvl2pPr marR="0" lvl="1" algn="ctr" rtl="0">
              <a:lnSpc>
                <a:spcPct val="90000"/>
              </a:lnSpc>
              <a:spcBef>
                <a:spcPts val="500"/>
              </a:spcBef>
              <a:spcAft>
                <a:spcPts val="0"/>
              </a:spcAft>
              <a:buClr>
                <a:schemeClr val="dk1"/>
              </a:buClr>
              <a:buSzPts val="2000"/>
              <a:buFont typeface="Arial"/>
              <a:buNone/>
              <a:defRPr sz="2000" b="0" i="0" u="none" strike="noStrike" cap="none">
                <a:solidFill>
                  <a:srgbClr val="000000"/>
                </a:solidFill>
                <a:latin typeface="Arial"/>
                <a:ea typeface="Arial"/>
                <a:cs typeface="Arial"/>
                <a:sym typeface="Arial"/>
              </a:defRPr>
            </a:lvl2pPr>
            <a:lvl3pPr marR="0" lvl="2" algn="ctr" rtl="0">
              <a:lnSpc>
                <a:spcPct val="90000"/>
              </a:lnSpc>
              <a:spcBef>
                <a:spcPts val="500"/>
              </a:spcBef>
              <a:spcAft>
                <a:spcPts val="0"/>
              </a:spcAft>
              <a:buClr>
                <a:schemeClr val="dk1"/>
              </a:buClr>
              <a:buSzPts val="1800"/>
              <a:buFont typeface="Arial"/>
              <a:buNone/>
              <a:defRPr sz="1800" b="0" i="0" u="none" strike="noStrike" cap="none">
                <a:solidFill>
                  <a:srgbClr val="000000"/>
                </a:solidFill>
                <a:latin typeface="Arial"/>
                <a:ea typeface="Arial"/>
                <a:cs typeface="Arial"/>
                <a:sym typeface="Arial"/>
              </a:defRPr>
            </a:lvl3pPr>
            <a:lvl4pPr marR="0" lvl="3" algn="ctr" rtl="0">
              <a:lnSpc>
                <a:spcPct val="90000"/>
              </a:lnSpc>
              <a:spcBef>
                <a:spcPts val="500"/>
              </a:spcBef>
              <a:spcAft>
                <a:spcPts val="0"/>
              </a:spcAft>
              <a:buClr>
                <a:schemeClr val="dk1"/>
              </a:buClr>
              <a:buSzPts val="1600"/>
              <a:buFont typeface="Arial"/>
              <a:buNone/>
              <a:defRPr sz="1600" b="0" i="0" u="none" strike="noStrike" cap="none">
                <a:solidFill>
                  <a:srgbClr val="000000"/>
                </a:solidFill>
                <a:latin typeface="Arial"/>
                <a:ea typeface="Arial"/>
                <a:cs typeface="Arial"/>
                <a:sym typeface="Arial"/>
              </a:defRPr>
            </a:lvl4pPr>
            <a:lvl5pPr marR="0" lvl="4" algn="ctr" rtl="0">
              <a:lnSpc>
                <a:spcPct val="90000"/>
              </a:lnSpc>
              <a:spcBef>
                <a:spcPts val="500"/>
              </a:spcBef>
              <a:spcAft>
                <a:spcPts val="0"/>
              </a:spcAft>
              <a:buClr>
                <a:schemeClr val="dk1"/>
              </a:buClr>
              <a:buSzPts val="1600"/>
              <a:buFont typeface="Arial"/>
              <a:buNone/>
              <a:defRPr sz="1600" b="0" i="0" u="none" strike="noStrike" cap="none">
                <a:solidFill>
                  <a:srgbClr val="000000"/>
                </a:solidFill>
                <a:latin typeface="Arial"/>
                <a:ea typeface="Arial"/>
                <a:cs typeface="Arial"/>
                <a:sym typeface="Arial"/>
              </a:defRPr>
            </a:lvl5pPr>
            <a:lvl6pPr marR="0" lvl="5" algn="ctr" rtl="0">
              <a:lnSpc>
                <a:spcPct val="90000"/>
              </a:lnSpc>
              <a:spcBef>
                <a:spcPts val="500"/>
              </a:spcBef>
              <a:spcAft>
                <a:spcPts val="0"/>
              </a:spcAft>
              <a:buClr>
                <a:schemeClr val="dk1"/>
              </a:buClr>
              <a:buSzPts val="1600"/>
              <a:buFont typeface="Arial"/>
              <a:buNone/>
              <a:defRPr sz="1600" b="0" i="0" u="none" strike="noStrike" cap="none">
                <a:solidFill>
                  <a:srgbClr val="000000"/>
                </a:solidFill>
                <a:latin typeface="Arial"/>
                <a:ea typeface="Arial"/>
                <a:cs typeface="Arial"/>
                <a:sym typeface="Arial"/>
              </a:defRPr>
            </a:lvl6pPr>
            <a:lvl7pPr marR="0" lvl="6" algn="ctr" rtl="0">
              <a:lnSpc>
                <a:spcPct val="90000"/>
              </a:lnSpc>
              <a:spcBef>
                <a:spcPts val="500"/>
              </a:spcBef>
              <a:spcAft>
                <a:spcPts val="0"/>
              </a:spcAft>
              <a:buClr>
                <a:schemeClr val="dk1"/>
              </a:buClr>
              <a:buSzPts val="1600"/>
              <a:buFont typeface="Arial"/>
              <a:buNone/>
              <a:defRPr sz="1600" b="0" i="0" u="none" strike="noStrike" cap="none">
                <a:solidFill>
                  <a:srgbClr val="000000"/>
                </a:solidFill>
                <a:latin typeface="Arial"/>
                <a:ea typeface="Arial"/>
                <a:cs typeface="Arial"/>
                <a:sym typeface="Arial"/>
              </a:defRPr>
            </a:lvl7pPr>
            <a:lvl8pPr marR="0" lvl="7" algn="ctr" rtl="0">
              <a:lnSpc>
                <a:spcPct val="90000"/>
              </a:lnSpc>
              <a:spcBef>
                <a:spcPts val="500"/>
              </a:spcBef>
              <a:spcAft>
                <a:spcPts val="0"/>
              </a:spcAft>
              <a:buClr>
                <a:schemeClr val="dk1"/>
              </a:buClr>
              <a:buSzPts val="1600"/>
              <a:buFont typeface="Arial"/>
              <a:buNone/>
              <a:defRPr sz="1600" b="0" i="0" u="none" strike="noStrike" cap="none">
                <a:solidFill>
                  <a:srgbClr val="000000"/>
                </a:solidFill>
                <a:latin typeface="Arial"/>
                <a:ea typeface="Arial"/>
                <a:cs typeface="Arial"/>
                <a:sym typeface="Arial"/>
              </a:defRPr>
            </a:lvl8pPr>
            <a:lvl9pPr marR="0" lvl="8" algn="ctr" rtl="0">
              <a:lnSpc>
                <a:spcPct val="90000"/>
              </a:lnSpc>
              <a:spcBef>
                <a:spcPts val="500"/>
              </a:spcBef>
              <a:spcAft>
                <a:spcPts val="0"/>
              </a:spcAft>
              <a:buClr>
                <a:schemeClr val="dk1"/>
              </a:buClr>
              <a:buSzPts val="1600"/>
              <a:buFont typeface="Arial"/>
              <a:buNone/>
              <a:defRPr sz="1600" b="0" i="0" u="none" strike="noStrike" cap="none">
                <a:solidFill>
                  <a:srgbClr val="000000"/>
                </a:solidFill>
                <a:latin typeface="Arial"/>
                <a:ea typeface="Arial"/>
                <a:cs typeface="Arial"/>
                <a:sym typeface="Arial"/>
              </a:defRPr>
            </a:lvl9pPr>
          </a:lstStyle>
          <a:p>
            <a:endParaRPr/>
          </a:p>
        </p:txBody>
      </p:sp>
      <p:sp>
        <p:nvSpPr>
          <p:cNvPr id="45" name="Google Shape;45;g27884b107a2_0_115"/>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haroni"/>
                <a:ea typeface="Aharoni"/>
                <a:cs typeface="Aharoni"/>
                <a:sym typeface="Aharoni"/>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46" name="Google Shape;46;g27884b107a2_0_115"/>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haroni"/>
                <a:ea typeface="Aharoni"/>
                <a:cs typeface="Aharoni"/>
                <a:sym typeface="Aharoni"/>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47" name="Google Shape;47;g27884b107a2_0_115"/>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haroni"/>
                <a:ea typeface="Aharoni"/>
                <a:cs typeface="Aharoni"/>
                <a:sym typeface="Aharoni"/>
              </a:defRPr>
            </a:lvl1pPr>
            <a:lvl2pPr marL="0" marR="0" lvl="1" indent="0" algn="r"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haroni"/>
                <a:ea typeface="Aharoni"/>
                <a:cs typeface="Aharoni"/>
                <a:sym typeface="Aharoni"/>
              </a:defRPr>
            </a:lvl2pPr>
            <a:lvl3pPr marL="0" marR="0" lvl="2" indent="0" algn="r"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haroni"/>
                <a:ea typeface="Aharoni"/>
                <a:cs typeface="Aharoni"/>
                <a:sym typeface="Aharoni"/>
              </a:defRPr>
            </a:lvl3pPr>
            <a:lvl4pPr marL="0" marR="0" lvl="3" indent="0" algn="r"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haroni"/>
                <a:ea typeface="Aharoni"/>
                <a:cs typeface="Aharoni"/>
                <a:sym typeface="Aharoni"/>
              </a:defRPr>
            </a:lvl4pPr>
            <a:lvl5pPr marL="0" marR="0" lvl="4" indent="0" algn="r"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haroni"/>
                <a:ea typeface="Aharoni"/>
                <a:cs typeface="Aharoni"/>
                <a:sym typeface="Aharoni"/>
              </a:defRPr>
            </a:lvl5pPr>
            <a:lvl6pPr marL="0" marR="0" lvl="5" indent="0" algn="r"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haroni"/>
                <a:ea typeface="Aharoni"/>
                <a:cs typeface="Aharoni"/>
                <a:sym typeface="Aharoni"/>
              </a:defRPr>
            </a:lvl6pPr>
            <a:lvl7pPr marL="0" marR="0" lvl="6" indent="0" algn="r"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haroni"/>
                <a:ea typeface="Aharoni"/>
                <a:cs typeface="Aharoni"/>
                <a:sym typeface="Aharoni"/>
              </a:defRPr>
            </a:lvl7pPr>
            <a:lvl8pPr marL="0" marR="0" lvl="7" indent="0" algn="r"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haroni"/>
                <a:ea typeface="Aharoni"/>
                <a:cs typeface="Aharoni"/>
                <a:sym typeface="Aharoni"/>
              </a:defRPr>
            </a:lvl8pPr>
            <a:lvl9pPr marL="0" marR="0" lvl="8" indent="0" algn="r"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haroni"/>
                <a:ea typeface="Aharoni"/>
                <a:cs typeface="Aharoni"/>
                <a:sym typeface="Aharon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_Title and Content">
  <p:cSld name="1_Title and Content">
    <p:spTree>
      <p:nvGrpSpPr>
        <p:cNvPr id="1" name="Shape 18"/>
        <p:cNvGrpSpPr/>
        <p:nvPr/>
      </p:nvGrpSpPr>
      <p:grpSpPr>
        <a:xfrm>
          <a:off x="0" y="0"/>
          <a:ext cx="0" cy="0"/>
          <a:chOff x="0" y="0"/>
          <a:chExt cx="0" cy="0"/>
        </a:xfrm>
      </p:grpSpPr>
      <p:sp>
        <p:nvSpPr>
          <p:cNvPr id="19" name="Google Shape;19;p41"/>
          <p:cNvSpPr>
            <a:spLocks noGrp="1"/>
          </p:cNvSpPr>
          <p:nvPr>
            <p:ph type="pic" idx="2"/>
          </p:nvPr>
        </p:nvSpPr>
        <p:spPr>
          <a:xfrm>
            <a:off x="1" y="0"/>
            <a:ext cx="12192000" cy="6858000"/>
          </a:xfrm>
          <a:prstGeom prst="rect">
            <a:avLst/>
          </a:prstGeom>
          <a:noFill/>
          <a:ln>
            <a:noFill/>
          </a:ln>
        </p:spPr>
      </p:sp>
      <p:sp>
        <p:nvSpPr>
          <p:cNvPr id="2" name="Google Shape;14;p38">
            <a:extLst>
              <a:ext uri="{FF2B5EF4-FFF2-40B4-BE49-F238E27FC236}">
                <a16:creationId xmlns:a16="http://schemas.microsoft.com/office/drawing/2014/main" id="{F1297DBC-90BB-B4E6-5D35-1E9745CE120C}"/>
              </a:ext>
            </a:extLst>
          </p:cNvPr>
          <p:cNvSpPr txBox="1">
            <a:spLocks noGrp="1"/>
          </p:cNvSpPr>
          <p:nvPr>
            <p:ph type="sldNum" idx="12"/>
          </p:nvPr>
        </p:nvSpPr>
        <p:spPr>
          <a:xfrm>
            <a:off x="9448799" y="6492875"/>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dirty="0"/>
          </a:p>
        </p:txBody>
      </p:sp>
    </p:spTree>
    <p:extLst>
      <p:ext uri="{BB962C8B-B14F-4D97-AF65-F5344CB8AC3E}">
        <p14:creationId xmlns:p14="http://schemas.microsoft.com/office/powerpoint/2010/main" val="29337338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0E0C1"/>
        </a:solidFill>
        <a:effectLst/>
      </p:bgPr>
    </p:bg>
    <p:spTree>
      <p:nvGrpSpPr>
        <p:cNvPr id="1" name="Shape 9"/>
        <p:cNvGrpSpPr/>
        <p:nvPr/>
      </p:nvGrpSpPr>
      <p:grpSpPr>
        <a:xfrm>
          <a:off x="0" y="0"/>
          <a:ext cx="0" cy="0"/>
          <a:chOff x="0" y="0"/>
          <a:chExt cx="0" cy="0"/>
        </a:xfrm>
      </p:grpSpPr>
      <p:sp>
        <p:nvSpPr>
          <p:cNvPr id="10" name="Google Shape;10;p64"/>
          <p:cNvSpPr txBox="1"/>
          <p:nvPr/>
        </p:nvSpPr>
        <p:spPr>
          <a:xfrm>
            <a:off x="434411" y="6230138"/>
            <a:ext cx="4789808"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7F7F7F"/>
              </a:buClr>
              <a:buSzPts val="1800"/>
              <a:buFont typeface="Open Sans"/>
              <a:buNone/>
            </a:pPr>
            <a:r>
              <a:rPr lang="en-US" sz="1800" b="0" i="0" u="none" strike="noStrike" cap="none">
                <a:solidFill>
                  <a:srgbClr val="7F7F7F"/>
                </a:solidFill>
                <a:latin typeface="Open Sans"/>
                <a:ea typeface="Open Sans"/>
                <a:cs typeface="Open Sans"/>
                <a:sym typeface="Open Sans"/>
              </a:rPr>
              <a:t>Dept EECE, GST Bengaluru</a:t>
            </a:r>
            <a:endParaRPr sz="1800" b="0" i="0" u="none" strike="noStrike" cap="none">
              <a:solidFill>
                <a:srgbClr val="7F7F7F"/>
              </a:solidFill>
              <a:latin typeface="Open Sans"/>
              <a:ea typeface="Open Sans"/>
              <a:cs typeface="Open Sans"/>
              <a:sym typeface="Open Sans"/>
            </a:endParaRPr>
          </a:p>
        </p:txBody>
      </p:sp>
      <p:pic>
        <p:nvPicPr>
          <p:cNvPr id="11" name="Google Shape;11;p64"/>
          <p:cNvPicPr preferRelativeResize="0"/>
          <p:nvPr userDrawn="1"/>
        </p:nvPicPr>
        <p:blipFill rotWithShape="1">
          <a:blip r:embed="rId11">
            <a:alphaModFix/>
          </a:blip>
          <a:srcRect/>
          <a:stretch/>
        </p:blipFill>
        <p:spPr>
          <a:xfrm>
            <a:off x="10545066" y="6107763"/>
            <a:ext cx="1432859" cy="614082"/>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54" r:id="rId1"/>
    <p:sldLayoutId id="2147483655" r:id="rId2"/>
    <p:sldLayoutId id="2147483656" r:id="rId3"/>
    <p:sldLayoutId id="2147483657" r:id="rId4"/>
    <p:sldLayoutId id="2147483658" r:id="rId5"/>
    <p:sldLayoutId id="2147483659" r:id="rId6"/>
    <p:sldLayoutId id="2147483660" r:id="rId7"/>
    <p:sldLayoutId id="2147483661" r:id="rId8"/>
    <p:sldLayoutId id="2147483675" r:id="rId9"/>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p15:clr>
            <a:srgbClr val="A4A3A4"/>
          </p15:clr>
        </p15:guide>
        <p15:guide id="2" pos="3840">
          <p15:clr>
            <a:srgbClr val="A4A3A4"/>
          </p15:clr>
        </p15:guide>
        <p15:guide id="3" orient="horz" pos="799">
          <p15:clr>
            <a:srgbClr val="A4A3A4"/>
          </p15:clr>
        </p15:guide>
        <p15:guide id="4" orient="horz" pos="346">
          <p15:clr>
            <a:srgbClr val="A4A3A4"/>
          </p15:clr>
        </p15:guide>
        <p15:guide id="5" orient="horz" pos="1253">
          <p15:clr>
            <a:srgbClr val="A4A3A4"/>
          </p15:clr>
        </p15:guide>
        <p15:guide id="6" orient="horz" pos="1706">
          <p15:clr>
            <a:srgbClr val="A4A3A4"/>
          </p15:clr>
        </p15:guide>
        <p15:guide id="7" orient="horz" pos="2614">
          <p15:clr>
            <a:srgbClr val="A4A3A4"/>
          </p15:clr>
        </p15:guide>
        <p15:guide id="8" orient="horz" pos="3067">
          <p15:clr>
            <a:srgbClr val="A4A3A4"/>
          </p15:clr>
        </p15:guide>
        <p15:guide id="9" orient="horz" pos="3521">
          <p15:clr>
            <a:srgbClr val="A4A3A4"/>
          </p15:clr>
        </p15:guide>
        <p15:guide id="10" orient="horz" pos="3974">
          <p15:clr>
            <a:srgbClr val="A4A3A4"/>
          </p15:clr>
        </p15:guide>
        <p15:guide id="11" pos="4294">
          <p15:clr>
            <a:srgbClr val="A4A3A4"/>
          </p15:clr>
        </p15:guide>
        <p15:guide id="12" pos="4747">
          <p15:clr>
            <a:srgbClr val="A4A3A4"/>
          </p15:clr>
        </p15:guide>
        <p15:guide id="13" pos="211">
          <p15:clr>
            <a:srgbClr val="A4A3A4"/>
          </p15:clr>
        </p15:guide>
        <p15:guide id="14" pos="665">
          <p15:clr>
            <a:srgbClr val="A4A3A4"/>
          </p15:clr>
        </p15:guide>
        <p15:guide id="15" pos="1118">
          <p15:clr>
            <a:srgbClr val="A4A3A4"/>
          </p15:clr>
        </p15:guide>
        <p15:guide id="16" pos="1572">
          <p15:clr>
            <a:srgbClr val="A4A3A4"/>
          </p15:clr>
        </p15:guide>
        <p15:guide id="17" pos="2026">
          <p15:clr>
            <a:srgbClr val="A4A3A4"/>
          </p15:clr>
        </p15:guide>
        <p15:guide id="18" pos="2479">
          <p15:clr>
            <a:srgbClr val="A4A3A4"/>
          </p15:clr>
        </p15:guide>
        <p15:guide id="19" pos="2933">
          <p15:clr>
            <a:srgbClr val="A4A3A4"/>
          </p15:clr>
        </p15:guide>
        <p15:guide id="20" pos="3386">
          <p15:clr>
            <a:srgbClr val="A4A3A4"/>
          </p15:clr>
        </p15:guide>
        <p15:guide id="21" pos="5201">
          <p15:clr>
            <a:srgbClr val="A4A3A4"/>
          </p15:clr>
        </p15:guide>
        <p15:guide id="22" pos="5654">
          <p15:clr>
            <a:srgbClr val="A4A3A4"/>
          </p15:clr>
        </p15:guide>
        <p15:guide id="23" pos="6108">
          <p15:clr>
            <a:srgbClr val="A4A3A4"/>
          </p15:clr>
        </p15:guide>
        <p15:guide id="24" pos="6562">
          <p15:clr>
            <a:srgbClr val="A4A3A4"/>
          </p15:clr>
        </p15:guide>
        <p15:guide id="25" pos="7015">
          <p15:clr>
            <a:srgbClr val="A4A3A4"/>
          </p15:clr>
        </p15:guide>
        <p15:guide id="26" pos="7469">
          <p15:clr>
            <a:srgbClr val="A4A3A4"/>
          </p15:clr>
        </p15:guide>
        <p15:guide id="27" pos="347">
          <p15:clr>
            <a:srgbClr val="F26B43"/>
          </p15:clr>
        </p15:guide>
        <p15:guide id="28" pos="7333">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2" Type="http://schemas.openxmlformats.org/officeDocument/2006/relationships/hyperlink" Target="https://docs.amd.com/v/u/en-US/ds181_Artix_7_Data_Sheet"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hyperlink" Target="https://ieeexplore.ieee.org/document/8544281" TargetMode="External"/><Relationship Id="rId3" Type="http://schemas.openxmlformats.org/officeDocument/2006/relationships/hyperlink" Target="https://scholar.google.com/scholar?hl=en&amp;as_sdt=0%2C5&amp;q=Enhanced+clock+gating+technique+for+power+optimization+in+SRAM+and+Sequential+circuit%E2%80%9D&amp;btnG=" TargetMode="External"/><Relationship Id="rId7" Type="http://schemas.openxmlformats.org/officeDocument/2006/relationships/hyperlink" Target="https://ieeexplore.ieee.org/document/6139440" TargetMode="External"/><Relationship Id="rId2" Type="http://schemas.openxmlformats.org/officeDocument/2006/relationships/hyperlink" Target="https://scholar.google.com/scholar?hl=en&amp;as_sdt=0%2C5&amp;q=Power+Reduction+Through+RTL+Clock+Gating&amp;btnG=" TargetMode="External"/><Relationship Id="rId1" Type="http://schemas.openxmlformats.org/officeDocument/2006/relationships/slideLayout" Target="../slideLayouts/slideLayout2.xml"/><Relationship Id="rId6" Type="http://schemas.openxmlformats.org/officeDocument/2006/relationships/hyperlink" Target="https://ieeexplore.ieee.org/document/9376565" TargetMode="External"/><Relationship Id="rId5" Type="http://schemas.openxmlformats.org/officeDocument/2006/relationships/hyperlink" Target="https://ieeexplore.ieee.org/document/8587596" TargetMode="External"/><Relationship Id="rId4" Type="http://schemas.openxmlformats.org/officeDocument/2006/relationships/hyperlink" Target="https://scholar.google.com/scholar?hl=en&amp;as_sdt=0%2C5&amp;q=Implementation+of+adaptive+clock+gating+technique+for+Low+power+circuits+%E2%80%93+A+Review&amp;btnG=" TargetMode="External"/><Relationship Id="rId9" Type="http://schemas.openxmlformats.org/officeDocument/2006/relationships/hyperlink" Target="https://ieeexplore.ieee.org/document/7226204" TargetMode="External"/></Relationships>
</file>

<file path=ppt/slides/_rels/slide7.xml.rels><?xml version="1.0" encoding="UTF-8" standalone="yes"?>
<Relationships xmlns="http://schemas.openxmlformats.org/package/2006/relationships"><Relationship Id="rId3" Type="http://schemas.openxmlformats.org/officeDocument/2006/relationships/hyperlink" Target="https://ieeexplore.ieee.org/document/6658028" TargetMode="External"/><Relationship Id="rId2" Type="http://schemas.openxmlformats.org/officeDocument/2006/relationships/hyperlink" Target="https://ieeexplore.ieee.org/document/6922241" TargetMode="External"/><Relationship Id="rId1" Type="http://schemas.openxmlformats.org/officeDocument/2006/relationships/slideLayout" Target="../slideLayouts/slideLayout2.xml"/><Relationship Id="rId5" Type="http://schemas.openxmlformats.org/officeDocument/2006/relationships/hyperlink" Target="https://ieeexplore.ieee.org/document/11042123" TargetMode="External"/><Relationship Id="rId4" Type="http://schemas.openxmlformats.org/officeDocument/2006/relationships/hyperlink" Target="https://ieeexplore.ieee.org/document/10958909" TargetMode="External"/></Relationships>
</file>

<file path=ppt/slides/_rels/slide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hyperlink" Target="https://www.lucidchart.com/pages/examples/uml_diagram_tool" TargetMode="External"/><Relationship Id="rId1" Type="http://schemas.openxmlformats.org/officeDocument/2006/relationships/slideLayout" Target="../slideLayouts/slideLayout9.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5.jpeg"/><Relationship Id="rId1" Type="http://schemas.openxmlformats.org/officeDocument/2006/relationships/slideLayout" Target="../slideLayouts/slideLayout9.xml"/><Relationship Id="rId4" Type="http://schemas.openxmlformats.org/officeDocument/2006/relationships/image" Target="../media/image8.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62AE9A7-FBD8-C9FF-7958-4AF112522506}"/>
              </a:ext>
            </a:extLst>
          </p:cNvPr>
          <p:cNvSpPr>
            <a:spLocks noGrp="1"/>
          </p:cNvSpPr>
          <p:nvPr>
            <p:ph type="sldNum" idx="4294967295"/>
          </p:nvPr>
        </p:nvSpPr>
        <p:spPr>
          <a:xfrm>
            <a:off x="11460163" y="6218238"/>
            <a:ext cx="731837" cy="523875"/>
          </a:xfrm>
          <a:prstGeom prst="rect">
            <a:avLst/>
          </a:prstGeom>
        </p:spPr>
        <p:txBody>
          <a:bodyPr/>
          <a:lstStyle/>
          <a:p>
            <a:pPr marL="0" lvl="0" indent="0" algn="r" rtl="0">
              <a:spcBef>
                <a:spcPts val="0"/>
              </a:spcBef>
              <a:spcAft>
                <a:spcPts val="0"/>
              </a:spcAft>
              <a:buNone/>
            </a:pPr>
            <a:fld id="{00000000-1234-1234-1234-123412341234}" type="slidenum">
              <a:rPr lang="en-US" smtClean="0"/>
              <a:t>1</a:t>
            </a:fld>
            <a:endParaRPr lang="en-US"/>
          </a:p>
        </p:txBody>
      </p:sp>
      <p:pic>
        <p:nvPicPr>
          <p:cNvPr id="5" name="Google Shape;87;p1">
            <a:extLst>
              <a:ext uri="{FF2B5EF4-FFF2-40B4-BE49-F238E27FC236}">
                <a16:creationId xmlns:a16="http://schemas.microsoft.com/office/drawing/2014/main" id="{AD01CF2C-8332-E700-171E-F6425D2B2D23}"/>
              </a:ext>
            </a:extLst>
          </p:cNvPr>
          <p:cNvPicPr preferRelativeResize="0"/>
          <p:nvPr/>
        </p:nvPicPr>
        <p:blipFill rotWithShape="1">
          <a:blip r:embed="rId2">
            <a:alphaModFix amt="20000"/>
          </a:blip>
          <a:srcRect l="1514" r="2310" b="19493"/>
          <a:stretch/>
        </p:blipFill>
        <p:spPr>
          <a:xfrm>
            <a:off x="-1235" y="141274"/>
            <a:ext cx="12193235" cy="6734914"/>
          </a:xfrm>
          <a:prstGeom prst="rect">
            <a:avLst/>
          </a:prstGeom>
          <a:noFill/>
          <a:ln>
            <a:noFill/>
          </a:ln>
        </p:spPr>
      </p:pic>
      <p:sp>
        <p:nvSpPr>
          <p:cNvPr id="6" name="Google Shape;88;p1">
            <a:extLst>
              <a:ext uri="{FF2B5EF4-FFF2-40B4-BE49-F238E27FC236}">
                <a16:creationId xmlns:a16="http://schemas.microsoft.com/office/drawing/2014/main" id="{74F321D0-F3BA-5572-DBB4-C5E77739C8E5}"/>
              </a:ext>
            </a:extLst>
          </p:cNvPr>
          <p:cNvSpPr txBox="1"/>
          <p:nvPr/>
        </p:nvSpPr>
        <p:spPr>
          <a:xfrm>
            <a:off x="2904067" y="3157752"/>
            <a:ext cx="6383867" cy="52318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b="1" i="0" u="none" strike="noStrike" cap="none" dirty="0">
                <a:solidFill>
                  <a:srgbClr val="007069"/>
                </a:solidFill>
                <a:latin typeface="Open Sans"/>
                <a:ea typeface="Open Sans"/>
                <a:cs typeface="Open Sans"/>
                <a:sym typeface="Open Sans"/>
              </a:rPr>
              <a:t>GITAM (Deemed-to-be) University</a:t>
            </a:r>
            <a:endParaRPr lang="en-US" sz="2800" dirty="0"/>
          </a:p>
        </p:txBody>
      </p:sp>
      <p:sp>
        <p:nvSpPr>
          <p:cNvPr id="11" name="Google Shape;93;p1">
            <a:extLst>
              <a:ext uri="{FF2B5EF4-FFF2-40B4-BE49-F238E27FC236}">
                <a16:creationId xmlns:a16="http://schemas.microsoft.com/office/drawing/2014/main" id="{5F318AA7-C96A-3AAD-7C94-E53133C5AD6C}"/>
              </a:ext>
            </a:extLst>
          </p:cNvPr>
          <p:cNvSpPr/>
          <p:nvPr/>
        </p:nvSpPr>
        <p:spPr>
          <a:xfrm>
            <a:off x="3060700" y="6148918"/>
            <a:ext cx="6096000" cy="276999"/>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dirty="0">
                <a:solidFill>
                  <a:srgbClr val="7F7F7F"/>
                </a:solidFill>
                <a:latin typeface="Montserrat Medium"/>
                <a:ea typeface="Montserrat Medium"/>
                <a:cs typeface="Montserrat Medium"/>
                <a:sym typeface="Montserrat Medium"/>
              </a:rPr>
              <a:t>www.gitam.edu</a:t>
            </a:r>
            <a:endParaRPr sz="1200" b="0" i="0" u="none" strike="noStrike" cap="none" dirty="0">
              <a:solidFill>
                <a:srgbClr val="7F7F7F"/>
              </a:solidFill>
              <a:latin typeface="Montserrat Medium"/>
              <a:ea typeface="Montserrat Medium"/>
              <a:cs typeface="Montserrat Medium"/>
              <a:sym typeface="Montserrat Medium"/>
            </a:endParaRPr>
          </a:p>
        </p:txBody>
      </p:sp>
      <p:grpSp>
        <p:nvGrpSpPr>
          <p:cNvPr id="12" name="Google Shape;94;p1">
            <a:extLst>
              <a:ext uri="{FF2B5EF4-FFF2-40B4-BE49-F238E27FC236}">
                <a16:creationId xmlns:a16="http://schemas.microsoft.com/office/drawing/2014/main" id="{27E17DC4-EBA4-36D1-CC55-FFAF1FD93FF1}"/>
              </a:ext>
            </a:extLst>
          </p:cNvPr>
          <p:cNvGrpSpPr/>
          <p:nvPr/>
        </p:nvGrpSpPr>
        <p:grpSpPr>
          <a:xfrm rot="2700000">
            <a:off x="5984712" y="5183993"/>
            <a:ext cx="231043" cy="225933"/>
            <a:chOff x="11087593" y="13905"/>
            <a:chExt cx="1085533" cy="1061509"/>
          </a:xfrm>
        </p:grpSpPr>
        <p:sp>
          <p:nvSpPr>
            <p:cNvPr id="13" name="Google Shape;95;p1">
              <a:extLst>
                <a:ext uri="{FF2B5EF4-FFF2-40B4-BE49-F238E27FC236}">
                  <a16:creationId xmlns:a16="http://schemas.microsoft.com/office/drawing/2014/main" id="{AE7092A2-B102-1273-6C25-E1736799EF72}"/>
                </a:ext>
              </a:extLst>
            </p:cNvPr>
            <p:cNvSpPr/>
            <p:nvPr/>
          </p:nvSpPr>
          <p:spPr>
            <a:xfrm>
              <a:off x="11087593" y="548342"/>
              <a:ext cx="537028" cy="527072"/>
            </a:xfrm>
            <a:prstGeom prst="rect">
              <a:avLst/>
            </a:prstGeom>
            <a:solidFill>
              <a:srgbClr val="DF2A3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351"/>
                <a:buFont typeface="Arial"/>
                <a:buNone/>
              </a:pPr>
              <a:endParaRPr sz="1351" b="0" i="0" u="none" strike="noStrike" cap="none">
                <a:solidFill>
                  <a:schemeClr val="lt1"/>
                </a:solidFill>
                <a:latin typeface="Calibri"/>
                <a:ea typeface="Calibri"/>
                <a:cs typeface="Calibri"/>
                <a:sym typeface="Calibri"/>
              </a:endParaRPr>
            </a:p>
          </p:txBody>
        </p:sp>
        <p:sp>
          <p:nvSpPr>
            <p:cNvPr id="14" name="Google Shape;96;p1">
              <a:extLst>
                <a:ext uri="{FF2B5EF4-FFF2-40B4-BE49-F238E27FC236}">
                  <a16:creationId xmlns:a16="http://schemas.microsoft.com/office/drawing/2014/main" id="{CD50D2DC-2455-5951-3C5D-BB02F217709E}"/>
                </a:ext>
              </a:extLst>
            </p:cNvPr>
            <p:cNvSpPr/>
            <p:nvPr/>
          </p:nvSpPr>
          <p:spPr>
            <a:xfrm>
              <a:off x="11636098" y="13905"/>
              <a:ext cx="537028" cy="527079"/>
            </a:xfrm>
            <a:prstGeom prst="rect">
              <a:avLst/>
            </a:prstGeom>
            <a:solidFill>
              <a:srgbClr val="3A3A7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351"/>
                <a:buFont typeface="Arial"/>
                <a:buNone/>
              </a:pPr>
              <a:endParaRPr sz="1351" b="0" i="0" u="none" strike="noStrike" cap="none">
                <a:solidFill>
                  <a:schemeClr val="lt1"/>
                </a:solidFill>
                <a:latin typeface="Calibri"/>
                <a:ea typeface="Calibri"/>
                <a:cs typeface="Calibri"/>
                <a:sym typeface="Calibri"/>
              </a:endParaRPr>
            </a:p>
          </p:txBody>
        </p:sp>
      </p:grpSp>
      <p:sp>
        <p:nvSpPr>
          <p:cNvPr id="16" name="Google Shape;104;p1">
            <a:extLst>
              <a:ext uri="{FF2B5EF4-FFF2-40B4-BE49-F238E27FC236}">
                <a16:creationId xmlns:a16="http://schemas.microsoft.com/office/drawing/2014/main" id="{C323D64D-BE3D-E115-33E9-192C329B4C2B}"/>
              </a:ext>
            </a:extLst>
          </p:cNvPr>
          <p:cNvSpPr/>
          <p:nvPr/>
        </p:nvSpPr>
        <p:spPr>
          <a:xfrm>
            <a:off x="2904067" y="3856219"/>
            <a:ext cx="6096000" cy="64629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1" i="0" u="none" strike="noStrike" cap="none" dirty="0">
                <a:solidFill>
                  <a:schemeClr val="dk1"/>
                </a:solidFill>
                <a:latin typeface="Montserrat Medium"/>
                <a:ea typeface="Montserrat Medium"/>
                <a:cs typeface="Montserrat Medium"/>
                <a:sym typeface="Montserrat Medium"/>
              </a:rPr>
              <a:t>Department of Electrical Electronics and Communication Engineering</a:t>
            </a:r>
            <a:endParaRPr sz="1800" b="1" i="0" u="none" strike="noStrike" cap="none" dirty="0">
              <a:solidFill>
                <a:schemeClr val="dk1"/>
              </a:solidFill>
              <a:latin typeface="Arial"/>
              <a:ea typeface="Arial"/>
              <a:cs typeface="Arial"/>
              <a:sym typeface="Arial"/>
            </a:endParaRPr>
          </a:p>
        </p:txBody>
      </p:sp>
      <p:sp>
        <p:nvSpPr>
          <p:cNvPr id="17" name="Google Shape;105;p1">
            <a:extLst>
              <a:ext uri="{FF2B5EF4-FFF2-40B4-BE49-F238E27FC236}">
                <a16:creationId xmlns:a16="http://schemas.microsoft.com/office/drawing/2014/main" id="{C9CF77E4-28A7-270F-8F1A-AFD4E8DCECCF}"/>
              </a:ext>
            </a:extLst>
          </p:cNvPr>
          <p:cNvSpPr/>
          <p:nvPr/>
        </p:nvSpPr>
        <p:spPr>
          <a:xfrm>
            <a:off x="9156700" y="5791918"/>
            <a:ext cx="2926946" cy="30777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a:solidFill>
                <a:schemeClr val="dk1"/>
              </a:solidFill>
              <a:latin typeface="Arial"/>
              <a:ea typeface="Arial"/>
              <a:cs typeface="Arial"/>
              <a:sym typeface="Arial"/>
            </a:endParaRPr>
          </a:p>
        </p:txBody>
      </p:sp>
      <p:sp>
        <p:nvSpPr>
          <p:cNvPr id="19" name="Google Shape;111;p1">
            <a:extLst>
              <a:ext uri="{FF2B5EF4-FFF2-40B4-BE49-F238E27FC236}">
                <a16:creationId xmlns:a16="http://schemas.microsoft.com/office/drawing/2014/main" id="{037B6323-B919-404C-9A53-E2D1EEBBC29E}"/>
              </a:ext>
            </a:extLst>
          </p:cNvPr>
          <p:cNvSpPr/>
          <p:nvPr/>
        </p:nvSpPr>
        <p:spPr>
          <a:xfrm>
            <a:off x="635198" y="4896786"/>
            <a:ext cx="4733215" cy="1384954"/>
          </a:xfrm>
          <a:prstGeom prst="rect">
            <a:avLst/>
          </a:prstGeom>
          <a:noFill/>
          <a:ln>
            <a:noFill/>
          </a:ln>
        </p:spPr>
        <p:txBody>
          <a:bodyPr spcFirstLastPara="1" wrap="square" lIns="91425" tIns="45700" rIns="91425" bIns="45700" anchor="t" anchorCtr="0">
            <a:spAutoFit/>
          </a:bodyPr>
          <a:lstStyle/>
          <a:p>
            <a:pPr marL="0" marR="0" lvl="0" indent="0" rtl="0">
              <a:lnSpc>
                <a:spcPct val="100000"/>
              </a:lnSpc>
              <a:spcBef>
                <a:spcPts val="0"/>
              </a:spcBef>
              <a:spcAft>
                <a:spcPts val="0"/>
              </a:spcAft>
              <a:buClr>
                <a:srgbClr val="000000"/>
              </a:buClr>
              <a:buSzPts val="1400"/>
              <a:buFont typeface="Arial"/>
              <a:buNone/>
            </a:pPr>
            <a:r>
              <a:rPr lang="en-US" sz="1400" b="1" i="0" u="none" strike="noStrike" cap="none" dirty="0">
                <a:solidFill>
                  <a:schemeClr val="dk1"/>
                </a:solidFill>
                <a:latin typeface="Montserrat Medium"/>
                <a:ea typeface="Montserrat Medium"/>
                <a:cs typeface="Montserrat Medium"/>
                <a:sym typeface="Montserrat Medium"/>
              </a:rPr>
              <a:t>Project Team: </a:t>
            </a:r>
          </a:p>
          <a:p>
            <a:pPr marL="285750" lvl="2" indent="-285750">
              <a:buSzPts val="1400"/>
              <a:buFont typeface="Arial" panose="020B0604020202020204" pitchFamily="34" charset="0"/>
              <a:buChar char="•"/>
            </a:pPr>
            <a:r>
              <a:rPr lang="en-US" b="1" i="0" u="none" strike="noStrike" cap="none" dirty="0">
                <a:solidFill>
                  <a:schemeClr val="dk1"/>
                </a:solidFill>
                <a:latin typeface="Montserrat Medium"/>
                <a:ea typeface="Arial"/>
                <a:cs typeface="Arial"/>
                <a:sym typeface="Montserrat Medium"/>
              </a:rPr>
              <a:t>Nukala Naga Jyoshika – BU22EECE0100489</a:t>
            </a:r>
          </a:p>
          <a:p>
            <a:pPr marL="285750" lvl="2" indent="-285750">
              <a:buSzPts val="1400"/>
              <a:buFont typeface="Arial" panose="020B0604020202020204" pitchFamily="34" charset="0"/>
              <a:buChar char="•"/>
            </a:pPr>
            <a:r>
              <a:rPr lang="en-US" b="1" i="0" u="none" strike="noStrike" cap="none" dirty="0">
                <a:solidFill>
                  <a:schemeClr val="dk1"/>
                </a:solidFill>
                <a:latin typeface="Montserrat Medium"/>
                <a:ea typeface="Arial"/>
                <a:cs typeface="Arial"/>
                <a:sym typeface="Montserrat Medium"/>
              </a:rPr>
              <a:t>Poojala Renuka</a:t>
            </a:r>
            <a:r>
              <a:rPr lang="en-US" b="1" dirty="0">
                <a:solidFill>
                  <a:schemeClr val="dk1"/>
                </a:solidFill>
                <a:latin typeface="Montserrat Medium"/>
                <a:sym typeface="Montserrat Medium"/>
              </a:rPr>
              <a:t> – BU22EECE0100491</a:t>
            </a:r>
            <a:endParaRPr lang="en-US" b="1" i="0" u="none" strike="noStrike" cap="none" dirty="0">
              <a:solidFill>
                <a:schemeClr val="dk1"/>
              </a:solidFill>
              <a:latin typeface="Arial"/>
              <a:ea typeface="Arial"/>
              <a:cs typeface="Arial"/>
              <a:sym typeface="Arial"/>
            </a:endParaRPr>
          </a:p>
          <a:p>
            <a:pPr marL="285750" lvl="2" indent="-285750">
              <a:buSzPts val="1400"/>
              <a:buFont typeface="Arial" panose="020B0604020202020204" pitchFamily="34" charset="0"/>
              <a:buChar char="•"/>
            </a:pPr>
            <a:r>
              <a:rPr lang="en-US" b="1" i="0" u="none" strike="noStrike" cap="none" dirty="0">
                <a:solidFill>
                  <a:schemeClr val="dk1"/>
                </a:solidFill>
                <a:latin typeface="Montserrat Medium"/>
                <a:ea typeface="Arial"/>
                <a:cs typeface="Arial"/>
                <a:sym typeface="Montserrat Medium"/>
              </a:rPr>
              <a:t>Md. Sameena Thasleem</a:t>
            </a:r>
            <a:r>
              <a:rPr lang="en-US" b="1" dirty="0">
                <a:solidFill>
                  <a:schemeClr val="dk1"/>
                </a:solidFill>
                <a:latin typeface="Montserrat Medium"/>
                <a:sym typeface="Montserrat Medium"/>
              </a:rPr>
              <a:t> – BU22EECE0100497</a:t>
            </a:r>
          </a:p>
          <a:p>
            <a:pPr marL="285750" lvl="2" indent="-285750">
              <a:buSzPts val="1400"/>
              <a:buFont typeface="Arial" panose="020B0604020202020204" pitchFamily="34" charset="0"/>
              <a:buChar char="•"/>
            </a:pPr>
            <a:endParaRPr lang="en-US" b="1" dirty="0">
              <a:solidFill>
                <a:schemeClr val="dk1"/>
              </a:solidFill>
              <a:latin typeface="Montserrat Medium"/>
              <a:sym typeface="Montserrat Medium"/>
            </a:endParaRPr>
          </a:p>
          <a:p>
            <a:pPr marL="285750" marR="0" lvl="0" indent="-285750" algn="ctr" rtl="0">
              <a:lnSpc>
                <a:spcPct val="100000"/>
              </a:lnSpc>
              <a:spcBef>
                <a:spcPts val="0"/>
              </a:spcBef>
              <a:spcAft>
                <a:spcPts val="0"/>
              </a:spcAft>
              <a:buClr>
                <a:srgbClr val="000000"/>
              </a:buClr>
              <a:buSzPts val="1400"/>
              <a:buFont typeface="Arial" panose="020B0604020202020204" pitchFamily="34" charset="0"/>
              <a:buChar char="•"/>
            </a:pPr>
            <a:endParaRPr sz="1400" b="1" i="0" u="none" strike="noStrike" cap="none" dirty="0">
              <a:solidFill>
                <a:schemeClr val="dk1"/>
              </a:solidFill>
              <a:latin typeface="Arial"/>
              <a:ea typeface="Arial"/>
              <a:cs typeface="Arial"/>
              <a:sym typeface="Arial"/>
            </a:endParaRPr>
          </a:p>
        </p:txBody>
      </p:sp>
      <p:sp>
        <p:nvSpPr>
          <p:cNvPr id="20" name="Google Shape;111;p1">
            <a:extLst>
              <a:ext uri="{FF2B5EF4-FFF2-40B4-BE49-F238E27FC236}">
                <a16:creationId xmlns:a16="http://schemas.microsoft.com/office/drawing/2014/main" id="{663FF154-6303-06EF-099B-905F19C206B2}"/>
              </a:ext>
            </a:extLst>
          </p:cNvPr>
          <p:cNvSpPr/>
          <p:nvPr/>
        </p:nvSpPr>
        <p:spPr>
          <a:xfrm>
            <a:off x="8899135" y="4808380"/>
            <a:ext cx="2926946" cy="954067"/>
          </a:xfrm>
          <a:prstGeom prst="rect">
            <a:avLst/>
          </a:prstGeom>
          <a:noFill/>
          <a:ln>
            <a:noFill/>
          </a:ln>
        </p:spPr>
        <p:txBody>
          <a:bodyPr spcFirstLastPara="1" wrap="square" lIns="91425" tIns="45700" rIns="91425" bIns="45700" anchor="t" anchorCtr="0">
            <a:spAutoFit/>
          </a:bodyPr>
          <a:lstStyle/>
          <a:p>
            <a:pPr marL="0" marR="0" lvl="0" indent="0" rtl="0">
              <a:lnSpc>
                <a:spcPct val="100000"/>
              </a:lnSpc>
              <a:spcBef>
                <a:spcPts val="0"/>
              </a:spcBef>
              <a:spcAft>
                <a:spcPts val="0"/>
              </a:spcAft>
              <a:buClr>
                <a:srgbClr val="000000"/>
              </a:buClr>
              <a:buSzPts val="1400"/>
              <a:buFont typeface="Arial"/>
              <a:buNone/>
            </a:pPr>
            <a:r>
              <a:rPr lang="en-US" sz="1400" b="1" i="0" u="none" strike="noStrike" cap="none" dirty="0">
                <a:solidFill>
                  <a:schemeClr val="dk1"/>
                </a:solidFill>
                <a:latin typeface="Montserrat Medium"/>
                <a:ea typeface="Montserrat Medium"/>
                <a:cs typeface="Montserrat Medium"/>
                <a:sym typeface="Montserrat Medium"/>
              </a:rPr>
              <a:t>Project Mentor: </a:t>
            </a:r>
          </a:p>
          <a:p>
            <a:pPr marL="285750" lvl="0" indent="-285750" algn="ctr">
              <a:buSzPts val="1400"/>
              <a:buFont typeface="Arial" panose="020B0604020202020204" pitchFamily="34" charset="0"/>
              <a:buChar char="•"/>
            </a:pPr>
            <a:r>
              <a:rPr lang="en-IN" dirty="0"/>
              <a:t>Shatadal Chatterjee</a:t>
            </a:r>
            <a:r>
              <a:rPr lang="en-US" sz="1400" b="1" i="0" u="none" strike="noStrike" cap="none" dirty="0">
                <a:solidFill>
                  <a:schemeClr val="dk1"/>
                </a:solidFill>
                <a:latin typeface="Montserrat Medium"/>
                <a:ea typeface="Arial"/>
                <a:cs typeface="Arial"/>
                <a:sym typeface="Montserrat Medium"/>
              </a:rPr>
              <a:t> </a:t>
            </a:r>
          </a:p>
          <a:p>
            <a:pPr marL="0" marR="0" lvl="0" indent="0" rtl="0">
              <a:lnSpc>
                <a:spcPct val="100000"/>
              </a:lnSpc>
              <a:spcBef>
                <a:spcPts val="0"/>
              </a:spcBef>
              <a:spcAft>
                <a:spcPts val="0"/>
              </a:spcAft>
              <a:buClr>
                <a:srgbClr val="000000"/>
              </a:buClr>
              <a:buSzPts val="1400"/>
              <a:buFont typeface="Arial"/>
              <a:buNone/>
            </a:pPr>
            <a:r>
              <a:rPr lang="en-US" sz="1400" b="1" i="0" u="none" strike="noStrike" cap="none" dirty="0">
                <a:solidFill>
                  <a:schemeClr val="dk1"/>
                </a:solidFill>
                <a:latin typeface="Montserrat Medium"/>
                <a:ea typeface="Montserrat Medium"/>
                <a:cs typeface="Montserrat Medium"/>
                <a:sym typeface="Montserrat Medium"/>
              </a:rPr>
              <a:t>Project In-charge: </a:t>
            </a:r>
          </a:p>
          <a:p>
            <a:pPr marL="285750" lvl="0" indent="-285750" algn="ctr">
              <a:buSzPts val="1400"/>
              <a:buFont typeface="Arial" panose="020B0604020202020204" pitchFamily="34" charset="0"/>
              <a:buChar char="•"/>
            </a:pPr>
            <a:r>
              <a:rPr lang="en-IN" dirty="0"/>
              <a:t> Kshitij Shakya</a:t>
            </a:r>
            <a:endParaRPr lang="en-US" sz="1400" b="1" i="0" u="none" strike="noStrike" cap="none" dirty="0">
              <a:solidFill>
                <a:schemeClr val="dk1"/>
              </a:solidFill>
              <a:latin typeface="Arial"/>
              <a:ea typeface="Arial"/>
              <a:cs typeface="Arial"/>
              <a:sym typeface="Arial"/>
            </a:endParaRPr>
          </a:p>
        </p:txBody>
      </p:sp>
      <p:pic>
        <p:nvPicPr>
          <p:cNvPr id="21" name="Google Shape;67;p1">
            <a:extLst>
              <a:ext uri="{FF2B5EF4-FFF2-40B4-BE49-F238E27FC236}">
                <a16:creationId xmlns:a16="http://schemas.microsoft.com/office/drawing/2014/main" id="{14559E83-6276-698C-A2DC-9D1D6C0E44CD}"/>
              </a:ext>
            </a:extLst>
          </p:cNvPr>
          <p:cNvPicPr preferRelativeResize="0"/>
          <p:nvPr/>
        </p:nvPicPr>
        <p:blipFill rotWithShape="1">
          <a:blip r:embed="rId3">
            <a:alphaModFix/>
          </a:blip>
          <a:srcRect/>
          <a:stretch/>
        </p:blipFill>
        <p:spPr>
          <a:xfrm>
            <a:off x="4601352" y="1778687"/>
            <a:ext cx="2674631" cy="1245671"/>
          </a:xfrm>
          <a:prstGeom prst="rect">
            <a:avLst/>
          </a:prstGeom>
          <a:noFill/>
          <a:ln>
            <a:noFill/>
          </a:ln>
        </p:spPr>
      </p:pic>
      <p:sp>
        <p:nvSpPr>
          <p:cNvPr id="22" name="Google Shape;88;p1">
            <a:extLst>
              <a:ext uri="{FF2B5EF4-FFF2-40B4-BE49-F238E27FC236}">
                <a16:creationId xmlns:a16="http://schemas.microsoft.com/office/drawing/2014/main" id="{8CF9D16E-FF17-2A50-8767-3A06BCEC2AD9}"/>
              </a:ext>
            </a:extLst>
          </p:cNvPr>
          <p:cNvSpPr txBox="1"/>
          <p:nvPr/>
        </p:nvSpPr>
        <p:spPr>
          <a:xfrm>
            <a:off x="2904067" y="438149"/>
            <a:ext cx="4948801" cy="95406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800" b="1" dirty="0">
                <a:solidFill>
                  <a:srgbClr val="007069"/>
                </a:solidFill>
              </a:rPr>
              <a:t>Low Power RTL Design using clock gating</a:t>
            </a:r>
          </a:p>
        </p:txBody>
      </p:sp>
      <p:sp>
        <p:nvSpPr>
          <p:cNvPr id="23" name="Google Shape;88;p1">
            <a:extLst>
              <a:ext uri="{FF2B5EF4-FFF2-40B4-BE49-F238E27FC236}">
                <a16:creationId xmlns:a16="http://schemas.microsoft.com/office/drawing/2014/main" id="{D8F66EB9-9CBE-8ACD-E616-93A5AE55CF5C}"/>
              </a:ext>
            </a:extLst>
          </p:cNvPr>
          <p:cNvSpPr txBox="1"/>
          <p:nvPr/>
        </p:nvSpPr>
        <p:spPr>
          <a:xfrm>
            <a:off x="9812887" y="141274"/>
            <a:ext cx="2245360" cy="400069"/>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000" b="1" i="0" u="none" strike="noStrike" cap="none" dirty="0">
                <a:solidFill>
                  <a:srgbClr val="007069"/>
                </a:solidFill>
                <a:latin typeface="Open Sans"/>
                <a:ea typeface="Open Sans"/>
                <a:cs typeface="Open Sans"/>
                <a:sym typeface="Open Sans"/>
              </a:rPr>
              <a:t>Review-I</a:t>
            </a:r>
            <a:endParaRPr lang="en-US" sz="2000" i="1" dirty="0"/>
          </a:p>
        </p:txBody>
      </p:sp>
      <p:sp>
        <p:nvSpPr>
          <p:cNvPr id="25" name="Google Shape;120;p76">
            <a:extLst>
              <a:ext uri="{FF2B5EF4-FFF2-40B4-BE49-F238E27FC236}">
                <a16:creationId xmlns:a16="http://schemas.microsoft.com/office/drawing/2014/main" id="{38A183C7-510B-0906-FECD-64BA2B628A0E}"/>
              </a:ext>
            </a:extLst>
          </p:cNvPr>
          <p:cNvSpPr/>
          <p:nvPr/>
        </p:nvSpPr>
        <p:spPr>
          <a:xfrm>
            <a:off x="133753" y="2965411"/>
            <a:ext cx="2432050" cy="818907"/>
          </a:xfrm>
          <a:prstGeom prst="roundRect">
            <a:avLst>
              <a:gd name="adj" fmla="val 16667"/>
            </a:avLst>
          </a:prstGeom>
          <a:solidFill>
            <a:srgbClr val="FFC000"/>
          </a:solidFill>
          <a:ln w="25400" cap="flat" cmpd="sng">
            <a:solidFill>
              <a:schemeClr val="accent2">
                <a:lumMod val="50000"/>
              </a:schemeClr>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Arial"/>
              <a:buNone/>
            </a:pPr>
            <a:r>
              <a:rPr lang="en-US" sz="1800" b="1" i="0" u="none" strike="noStrike" cap="none" dirty="0">
                <a:solidFill>
                  <a:schemeClr val="lt1"/>
                </a:solidFill>
                <a:latin typeface="Verdana"/>
                <a:ea typeface="Verdana"/>
                <a:cs typeface="Verdana"/>
                <a:sym typeface="Verdana"/>
              </a:rPr>
              <a:t>AY 2025-26 </a:t>
            </a:r>
            <a:endParaRPr sz="900" b="1" i="0" u="none" strike="noStrike" cap="none" dirty="0">
              <a:solidFill>
                <a:srgbClr val="000000"/>
              </a:solidFill>
              <a:latin typeface="Arial"/>
              <a:ea typeface="Arial"/>
              <a:cs typeface="Arial"/>
              <a:sym typeface="Arial"/>
            </a:endParaRPr>
          </a:p>
        </p:txBody>
      </p:sp>
      <p:sp>
        <p:nvSpPr>
          <p:cNvPr id="26" name="Google Shape;120;p76">
            <a:extLst>
              <a:ext uri="{FF2B5EF4-FFF2-40B4-BE49-F238E27FC236}">
                <a16:creationId xmlns:a16="http://schemas.microsoft.com/office/drawing/2014/main" id="{B3C9655A-2680-CBD4-341A-460C55A63157}"/>
              </a:ext>
            </a:extLst>
          </p:cNvPr>
          <p:cNvSpPr/>
          <p:nvPr/>
        </p:nvSpPr>
        <p:spPr>
          <a:xfrm>
            <a:off x="9287933" y="2965412"/>
            <a:ext cx="2770314" cy="818907"/>
          </a:xfrm>
          <a:prstGeom prst="roundRect">
            <a:avLst>
              <a:gd name="adj" fmla="val 16667"/>
            </a:avLst>
          </a:prstGeom>
          <a:solidFill>
            <a:schemeClr val="accent1">
              <a:lumMod val="75000"/>
            </a:schemeClr>
          </a:solidFill>
          <a:ln w="25400" cap="flat" cmpd="sng">
            <a:solidFill>
              <a:schemeClr val="accent2">
                <a:lumMod val="50000"/>
              </a:schemeClr>
            </a:solidFill>
            <a:prstDash val="solid"/>
            <a:round/>
            <a:headEnd type="none" w="sm" len="sm"/>
            <a:tailEnd type="none" w="sm" len="sm"/>
          </a:ln>
        </p:spPr>
        <p:txBody>
          <a:bodyPr spcFirstLastPara="1" wrap="square" lIns="91425" tIns="45700" rIns="91425" bIns="45700" anchor="ctr" anchorCtr="0">
            <a:noAutofit/>
          </a:bodyPr>
          <a:lstStyle/>
          <a:p>
            <a:pPr lvl="0" algn="ctr">
              <a:buSzPts val="3600"/>
            </a:pPr>
            <a:r>
              <a:rPr lang="en-US" sz="1800" b="1" i="0" u="none" strike="noStrike" cap="none" dirty="0">
                <a:solidFill>
                  <a:schemeClr val="lt1"/>
                </a:solidFill>
                <a:latin typeface="Verdana"/>
                <a:ea typeface="Verdana"/>
                <a:cs typeface="Verdana"/>
                <a:sym typeface="Verdana"/>
              </a:rPr>
              <a:t>Capstone Project – </a:t>
            </a:r>
            <a:r>
              <a:rPr lang="en-US" sz="1800" b="1" dirty="0">
                <a:solidFill>
                  <a:schemeClr val="lt1"/>
                </a:solidFill>
                <a:latin typeface="Verdana"/>
                <a:ea typeface="Verdana"/>
                <a:cs typeface="Verdana"/>
                <a:sym typeface="Verdana"/>
              </a:rPr>
              <a:t>Introduction (PROJ2999)</a:t>
            </a:r>
            <a:endParaRPr lang="en-US" sz="1800" b="1" i="0" u="none" strike="noStrike" cap="none" dirty="0">
              <a:solidFill>
                <a:schemeClr val="lt1"/>
              </a:solidFill>
              <a:latin typeface="Verdana"/>
              <a:ea typeface="Verdana"/>
              <a:cs typeface="Verdana"/>
              <a:sym typeface="Verdana"/>
            </a:endParaRPr>
          </a:p>
        </p:txBody>
      </p:sp>
    </p:spTree>
    <p:extLst>
      <p:ext uri="{BB962C8B-B14F-4D97-AF65-F5344CB8AC3E}">
        <p14:creationId xmlns:p14="http://schemas.microsoft.com/office/powerpoint/2010/main" val="2901330264"/>
      </p:ext>
    </p:extLst>
  </p:cSld>
  <p:clrMapOvr>
    <a:masterClrMapping/>
  </p:clrMapOvr>
  <mc:AlternateContent xmlns:mc="http://schemas.openxmlformats.org/markup-compatibility/2006" xmlns:p14="http://schemas.microsoft.com/office/powerpoint/2010/main">
    <mc:Choice Requires="p14">
      <p:transition spd="slow" p14:dur="2000" advTm="40668"/>
    </mc:Choice>
    <mc:Fallback xmlns="">
      <p:transition spd="slow" advTm="40668"/>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0">
          <a:extLst>
            <a:ext uri="{FF2B5EF4-FFF2-40B4-BE49-F238E27FC236}">
              <a16:creationId xmlns:a16="http://schemas.microsoft.com/office/drawing/2014/main" id="{016D5E0D-E878-63B4-A1A9-208E58ED601E}"/>
            </a:ext>
          </a:extLst>
        </p:cNvPr>
        <p:cNvGrpSpPr/>
        <p:nvPr/>
      </p:nvGrpSpPr>
      <p:grpSpPr>
        <a:xfrm>
          <a:off x="0" y="0"/>
          <a:ext cx="0" cy="0"/>
          <a:chOff x="0" y="0"/>
          <a:chExt cx="0" cy="0"/>
        </a:xfrm>
      </p:grpSpPr>
      <p:sp>
        <p:nvSpPr>
          <p:cNvPr id="8" name="Google Shape;125;p3">
            <a:extLst>
              <a:ext uri="{FF2B5EF4-FFF2-40B4-BE49-F238E27FC236}">
                <a16:creationId xmlns:a16="http://schemas.microsoft.com/office/drawing/2014/main" id="{1EF97A4B-E82E-712F-CA13-78D59E17A26B}"/>
              </a:ext>
            </a:extLst>
          </p:cNvPr>
          <p:cNvSpPr txBox="1"/>
          <p:nvPr/>
        </p:nvSpPr>
        <p:spPr>
          <a:xfrm>
            <a:off x="1000124" y="232275"/>
            <a:ext cx="10515600" cy="493857"/>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None/>
            </a:pPr>
            <a:r>
              <a:rPr lang="en-US" sz="2400" b="1" i="0" u="none" strike="noStrike" cap="none" dirty="0">
                <a:solidFill>
                  <a:srgbClr val="000000"/>
                </a:solidFill>
                <a:latin typeface="Times New Roman" panose="02020603050405020304" pitchFamily="18" charset="0"/>
                <a:ea typeface="Montserrat"/>
                <a:cs typeface="Times New Roman" panose="02020603050405020304" pitchFamily="18" charset="0"/>
                <a:sym typeface="Montserrat"/>
              </a:rPr>
              <a:t>Objective and Goals</a:t>
            </a:r>
            <a:endParaRPr dirty="0">
              <a:latin typeface="Times New Roman" panose="02020603050405020304" pitchFamily="18" charset="0"/>
              <a:cs typeface="Times New Roman" panose="02020603050405020304" pitchFamily="18" charset="0"/>
            </a:endParaRPr>
          </a:p>
        </p:txBody>
      </p:sp>
      <p:sp>
        <p:nvSpPr>
          <p:cNvPr id="3" name="Google Shape;120;p76">
            <a:extLst>
              <a:ext uri="{FF2B5EF4-FFF2-40B4-BE49-F238E27FC236}">
                <a16:creationId xmlns:a16="http://schemas.microsoft.com/office/drawing/2014/main" id="{CA08A1E2-29B3-F3D5-48A9-5D1EA6629717}"/>
              </a:ext>
            </a:extLst>
          </p:cNvPr>
          <p:cNvSpPr/>
          <p:nvPr/>
        </p:nvSpPr>
        <p:spPr>
          <a:xfrm>
            <a:off x="550606" y="765905"/>
            <a:ext cx="2114338" cy="302183"/>
          </a:xfrm>
          <a:prstGeom prst="roundRect">
            <a:avLst>
              <a:gd name="adj" fmla="val 16667"/>
            </a:avLst>
          </a:prstGeom>
          <a:solidFill>
            <a:schemeClr val="tx2">
              <a:lumMod val="10000"/>
            </a:schemeClr>
          </a:solidFill>
          <a:ln w="25400" cap="flat" cmpd="sng">
            <a:solidFill>
              <a:schemeClr val="tx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Arial"/>
              <a:buNone/>
            </a:pPr>
            <a:r>
              <a:rPr lang="en-US" sz="2000" b="1" i="0" u="none" strike="noStrike" cap="none" dirty="0">
                <a:solidFill>
                  <a:schemeClr val="lt1"/>
                </a:solidFill>
                <a:latin typeface="Times New Roman" panose="02020603050405020304" pitchFamily="18" charset="0"/>
                <a:ea typeface="Verdana"/>
                <a:cs typeface="Times New Roman" panose="02020603050405020304" pitchFamily="18" charset="0"/>
                <a:sym typeface="Verdana"/>
              </a:rPr>
              <a:t>Objective </a:t>
            </a:r>
            <a:endParaRPr sz="1000" b="1" i="0" u="none" strike="noStrike" cap="none" dirty="0">
              <a:solidFill>
                <a:srgbClr val="000000"/>
              </a:solidFill>
              <a:latin typeface="Times New Roman" panose="02020603050405020304" pitchFamily="18" charset="0"/>
              <a:cs typeface="Times New Roman" panose="02020603050405020304" pitchFamily="18" charset="0"/>
              <a:sym typeface="Arial"/>
            </a:endParaRPr>
          </a:p>
        </p:txBody>
      </p:sp>
      <p:sp>
        <p:nvSpPr>
          <p:cNvPr id="5" name="Google Shape;120;p76">
            <a:extLst>
              <a:ext uri="{FF2B5EF4-FFF2-40B4-BE49-F238E27FC236}">
                <a16:creationId xmlns:a16="http://schemas.microsoft.com/office/drawing/2014/main" id="{17BF0AA4-CB04-F194-9E07-5F430F49129E}"/>
              </a:ext>
            </a:extLst>
          </p:cNvPr>
          <p:cNvSpPr/>
          <p:nvPr/>
        </p:nvSpPr>
        <p:spPr>
          <a:xfrm>
            <a:off x="550606" y="3429000"/>
            <a:ext cx="2114338" cy="302183"/>
          </a:xfrm>
          <a:prstGeom prst="roundRect">
            <a:avLst>
              <a:gd name="adj" fmla="val 16667"/>
            </a:avLst>
          </a:prstGeom>
          <a:solidFill>
            <a:schemeClr val="tx2">
              <a:lumMod val="10000"/>
            </a:schemeClr>
          </a:solidFill>
          <a:ln w="25400" cap="flat" cmpd="sng">
            <a:solidFill>
              <a:schemeClr val="tx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Arial"/>
              <a:buNone/>
            </a:pPr>
            <a:r>
              <a:rPr lang="en-US" sz="2000" b="1" i="0" u="none" strike="noStrike" cap="none" dirty="0">
                <a:solidFill>
                  <a:schemeClr val="lt1"/>
                </a:solidFill>
                <a:latin typeface="Times New Roman" panose="02020603050405020304" pitchFamily="18" charset="0"/>
                <a:ea typeface="Verdana"/>
                <a:cs typeface="Times New Roman" panose="02020603050405020304" pitchFamily="18" charset="0"/>
                <a:sym typeface="Verdana"/>
              </a:rPr>
              <a:t>Goals</a:t>
            </a:r>
            <a:endParaRPr sz="1000" b="1" i="0" u="none" strike="noStrike" cap="none" dirty="0">
              <a:solidFill>
                <a:srgbClr val="000000"/>
              </a:solidFill>
              <a:latin typeface="Times New Roman" panose="02020603050405020304" pitchFamily="18" charset="0"/>
              <a:cs typeface="Times New Roman" panose="02020603050405020304" pitchFamily="18" charset="0"/>
              <a:sym typeface="Arial"/>
            </a:endParaRPr>
          </a:p>
        </p:txBody>
      </p:sp>
      <p:sp>
        <p:nvSpPr>
          <p:cNvPr id="33" name="TextBox 32">
            <a:extLst>
              <a:ext uri="{FF2B5EF4-FFF2-40B4-BE49-F238E27FC236}">
                <a16:creationId xmlns:a16="http://schemas.microsoft.com/office/drawing/2014/main" id="{A1111477-E886-23E8-64BD-4CADAD76379A}"/>
              </a:ext>
            </a:extLst>
          </p:cNvPr>
          <p:cNvSpPr txBox="1"/>
          <p:nvPr/>
        </p:nvSpPr>
        <p:spPr>
          <a:xfrm>
            <a:off x="1014942" y="1363495"/>
            <a:ext cx="9943179" cy="1600438"/>
          </a:xfrm>
          <a:prstGeom prst="rect">
            <a:avLst/>
          </a:prstGeom>
          <a:noFill/>
        </p:spPr>
        <p:txBody>
          <a:bodyPr wrap="square" rtlCol="0">
            <a:spAutoFit/>
          </a:bodyPr>
          <a:lstStyle/>
          <a:p>
            <a:r>
              <a:rPr lang="en-IN" b="1" dirty="0">
                <a:latin typeface="Times New Roman" panose="02020603050405020304" pitchFamily="18" charset="0"/>
                <a:ea typeface="Verdana" panose="020B0604030504040204" pitchFamily="34" charset="0"/>
                <a:cs typeface="Times New Roman" panose="02020603050405020304" pitchFamily="18" charset="0"/>
              </a:rPr>
              <a:t>Brief Description:</a:t>
            </a:r>
          </a:p>
          <a:p>
            <a:r>
              <a:rPr lang="en-US" dirty="0">
                <a:latin typeface="Times New Roman" panose="02020603050405020304" pitchFamily="18" charset="0"/>
                <a:cs typeface="Times New Roman" panose="02020603050405020304" pitchFamily="18" charset="0"/>
              </a:rPr>
              <a:t>            The main objective of this project is to lower the power utilized by the circuit in RTL design by using clock gating method. Beyond basic clock gating system, the design aims to manage multiple power saving techniques from a single centralized controller to maximize energy efficiency. It is a unified adaptive system that manages both clock gating and dynamic frequency scaling from a single controller.</a:t>
            </a:r>
            <a:endParaRPr lang="en-IN" dirty="0">
              <a:latin typeface="Times New Roman" panose="02020603050405020304" pitchFamily="18" charset="0"/>
              <a:ea typeface="Verdana" panose="020B0604030504040204" pitchFamily="34" charset="0"/>
              <a:cs typeface="Times New Roman" panose="02020603050405020304" pitchFamily="18" charset="0"/>
            </a:endParaRPr>
          </a:p>
          <a:p>
            <a:r>
              <a:rPr lang="en-IN" dirty="0">
                <a:latin typeface="Times New Roman" panose="02020603050405020304" pitchFamily="18" charset="0"/>
                <a:ea typeface="Verdana" panose="020B0604030504040204" pitchFamily="34" charset="0"/>
                <a:cs typeface="Times New Roman" panose="02020603050405020304" pitchFamily="18" charset="0"/>
              </a:rPr>
              <a:t>           The main advantage of this system is it can save the power based on the circuit’s activity.</a:t>
            </a:r>
          </a:p>
          <a:p>
            <a:endParaRPr lang="en-IN" dirty="0">
              <a:latin typeface="Times New Roman" panose="02020603050405020304" pitchFamily="18" charset="0"/>
              <a:ea typeface="Verdana" panose="020B0604030504040204" pitchFamily="34" charset="0"/>
              <a:cs typeface="Times New Roman" panose="02020603050405020304" pitchFamily="18" charset="0"/>
            </a:endParaRPr>
          </a:p>
        </p:txBody>
      </p:sp>
      <p:sp>
        <p:nvSpPr>
          <p:cNvPr id="34" name="TextBox 33">
            <a:extLst>
              <a:ext uri="{FF2B5EF4-FFF2-40B4-BE49-F238E27FC236}">
                <a16:creationId xmlns:a16="http://schemas.microsoft.com/office/drawing/2014/main" id="{4A9AEFFB-1A20-899A-F8E0-29DEDB267EF4}"/>
              </a:ext>
            </a:extLst>
          </p:cNvPr>
          <p:cNvSpPr txBox="1"/>
          <p:nvPr/>
        </p:nvSpPr>
        <p:spPr>
          <a:xfrm>
            <a:off x="1014942" y="3860497"/>
            <a:ext cx="9943179" cy="1600438"/>
          </a:xfrm>
          <a:prstGeom prst="rect">
            <a:avLst/>
          </a:prstGeom>
          <a:noFill/>
        </p:spPr>
        <p:txBody>
          <a:bodyPr wrap="square" rtlCol="0">
            <a:spAutoFit/>
          </a:bodyPr>
          <a:lstStyle/>
          <a:p>
            <a:r>
              <a:rPr lang="en-IN" b="1" dirty="0">
                <a:latin typeface="Times New Roman" panose="02020603050405020304" pitchFamily="18" charset="0"/>
                <a:ea typeface="Verdana" panose="020B0604030504040204" pitchFamily="34" charset="0"/>
                <a:cs typeface="Times New Roman" panose="02020603050405020304" pitchFamily="18" charset="0"/>
              </a:rPr>
              <a:t>Main Goals:</a:t>
            </a:r>
          </a:p>
          <a:p>
            <a:pPr marL="285750" indent="-285750">
              <a:buFont typeface="Arial" panose="020B0604020202020204" pitchFamily="34" charset="0"/>
              <a:buChar char="•"/>
            </a:pPr>
            <a:r>
              <a:rPr lang="en-IN" dirty="0">
                <a:latin typeface="Times New Roman" panose="02020603050405020304" pitchFamily="18" charset="0"/>
                <a:ea typeface="Verdana" panose="020B0604030504040204" pitchFamily="34" charset="0"/>
                <a:cs typeface="Times New Roman" panose="02020603050405020304" pitchFamily="18" charset="0"/>
              </a:rPr>
              <a:t>The main goal is to reduce the power consumption in the circuit.</a:t>
            </a:r>
          </a:p>
          <a:p>
            <a:pPr marL="285750" indent="-285750">
              <a:buFont typeface="Arial" panose="020B0604020202020204" pitchFamily="34" charset="0"/>
              <a:buChar char="•"/>
            </a:pPr>
            <a:r>
              <a:rPr lang="en-IN" dirty="0">
                <a:latin typeface="Times New Roman" panose="02020603050405020304" pitchFamily="18" charset="0"/>
                <a:ea typeface="Verdana" panose="020B0604030504040204" pitchFamily="34" charset="0"/>
                <a:cs typeface="Times New Roman" panose="02020603050405020304" pitchFamily="18" charset="0"/>
              </a:rPr>
              <a:t>The primary goal is to create a single, centralized controller that uses for both power saving methods: clock gating and dynamic frequency scaling. This is more efficient than using separate controllers for each functions.</a:t>
            </a:r>
          </a:p>
          <a:p>
            <a:pPr marL="285750" indent="-285750">
              <a:buFont typeface="Arial" panose="020B0604020202020204" pitchFamily="34" charset="0"/>
              <a:buChar char="•"/>
            </a:pPr>
            <a:r>
              <a:rPr lang="en-IN" dirty="0">
                <a:latin typeface="Times New Roman" panose="02020603050405020304" pitchFamily="18" charset="0"/>
                <a:ea typeface="Verdana" panose="020B0604030504040204" pitchFamily="34" charset="0"/>
                <a:cs typeface="Times New Roman" panose="02020603050405020304" pitchFamily="18" charset="0"/>
              </a:rPr>
              <a:t>Developing the adaptive system that monitor the circuit activity, whether it is in active mode or in idle mode.		</a:t>
            </a:r>
          </a:p>
          <a:p>
            <a:pPr marL="285750" indent="-285750">
              <a:buFont typeface="Arial" panose="020B0604020202020204" pitchFamily="34" charset="0"/>
              <a:buChar char="•"/>
            </a:pPr>
            <a:r>
              <a:rPr lang="en-IN" dirty="0">
                <a:latin typeface="Times New Roman" panose="02020603050405020304" pitchFamily="18" charset="0"/>
                <a:ea typeface="Verdana" panose="020B0604030504040204" pitchFamily="34" charset="0"/>
                <a:cs typeface="Times New Roman" panose="02020603050405020304" pitchFamily="18" charset="0"/>
              </a:rPr>
              <a:t>Project aims to showcase a real-world, standard approach to low power design. </a:t>
            </a:r>
          </a:p>
          <a:p>
            <a:endParaRPr lang="en-IN" dirty="0">
              <a:latin typeface="Times New Roman" panose="02020603050405020304" pitchFamily="18" charset="0"/>
              <a:ea typeface="Verdana" panose="020B0604030504040204" pitchFamily="34" charset="0"/>
              <a:cs typeface="Times New Roman" panose="02020603050405020304" pitchFamily="18" charset="0"/>
            </a:endParaRPr>
          </a:p>
        </p:txBody>
      </p:sp>
      <p:sp>
        <p:nvSpPr>
          <p:cNvPr id="35" name="Slide Number Placeholder 34">
            <a:extLst>
              <a:ext uri="{FF2B5EF4-FFF2-40B4-BE49-F238E27FC236}">
                <a16:creationId xmlns:a16="http://schemas.microsoft.com/office/drawing/2014/main" id="{FB294828-0F9E-F06A-05D5-7A5C37AB349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latin typeface="Times New Roman" panose="02020603050405020304" pitchFamily="18" charset="0"/>
                <a:cs typeface="Times New Roman" panose="02020603050405020304" pitchFamily="18" charset="0"/>
              </a:rPr>
              <a:t>2</a:t>
            </a:fld>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29641473"/>
      </p:ext>
    </p:extLst>
  </p:cSld>
  <p:clrMapOvr>
    <a:masterClrMapping/>
  </p:clrMapOvr>
  <mc:AlternateContent xmlns:mc="http://schemas.openxmlformats.org/markup-compatibility/2006" xmlns:p14="http://schemas.microsoft.com/office/powerpoint/2010/main">
    <mc:Choice Requires="p14">
      <p:transition spd="slow" p14:dur="2000" advTm="97991"/>
    </mc:Choice>
    <mc:Fallback xmlns="">
      <p:transition spd="slow" advTm="97991"/>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0">
          <a:extLst>
            <a:ext uri="{FF2B5EF4-FFF2-40B4-BE49-F238E27FC236}">
              <a16:creationId xmlns:a16="http://schemas.microsoft.com/office/drawing/2014/main" id="{5D277163-DDF4-8A7D-727E-9DC95265C51D}"/>
            </a:ext>
          </a:extLst>
        </p:cNvPr>
        <p:cNvGrpSpPr/>
        <p:nvPr/>
      </p:nvGrpSpPr>
      <p:grpSpPr>
        <a:xfrm>
          <a:off x="0" y="0"/>
          <a:ext cx="0" cy="0"/>
          <a:chOff x="0" y="0"/>
          <a:chExt cx="0" cy="0"/>
        </a:xfrm>
      </p:grpSpPr>
      <p:sp>
        <p:nvSpPr>
          <p:cNvPr id="8" name="Google Shape;125;p3">
            <a:extLst>
              <a:ext uri="{FF2B5EF4-FFF2-40B4-BE49-F238E27FC236}">
                <a16:creationId xmlns:a16="http://schemas.microsoft.com/office/drawing/2014/main" id="{C6ECFB60-4922-9557-3C5E-7FA842E8B16A}"/>
              </a:ext>
            </a:extLst>
          </p:cNvPr>
          <p:cNvSpPr txBox="1"/>
          <p:nvPr/>
        </p:nvSpPr>
        <p:spPr>
          <a:xfrm>
            <a:off x="540773" y="1122239"/>
            <a:ext cx="11326761" cy="5131077"/>
          </a:xfrm>
          <a:prstGeom prst="rect">
            <a:avLst/>
          </a:prstGeom>
          <a:noFill/>
          <a:ln>
            <a:noFill/>
          </a:ln>
        </p:spPr>
        <p:txBody>
          <a:bodyPr spcFirstLastPara="1" wrap="square" lIns="91425" tIns="45700" rIns="91425" bIns="45700" anchor="t" anchorCtr="0">
            <a:noAutofit/>
          </a:bodyPr>
          <a:lstStyle/>
          <a:p>
            <a:pPr lvl="0"/>
            <a:r>
              <a:rPr lang="en-US" b="1" dirty="0">
                <a:latin typeface="Times New Roman" panose="02020603050405020304" pitchFamily="18" charset="0"/>
                <a:cs typeface="Times New Roman" panose="02020603050405020304" pitchFamily="18" charset="0"/>
              </a:rPr>
              <a:t>Review 1: Project Proposal &amp; Design</a:t>
            </a:r>
          </a:p>
          <a:p>
            <a:pPr marL="285750" lvl="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Define the project scope and propose the high-level design.</a:t>
            </a:r>
          </a:p>
          <a:p>
            <a:pPr marL="285750" lvl="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Milestones:</a:t>
            </a:r>
          </a:p>
          <a:p>
            <a:pPr marL="285750" lvl="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Research and summarize existing low-power design techniques, including clock gating and frequency scaling.</a:t>
            </a:r>
          </a:p>
          <a:p>
            <a:pPr marL="285750" lvl="0" indent="-285750">
              <a:buFont typeface="Arial" panose="020B0604020202020204" pitchFamily="34" charset="0"/>
              <a:buChar char="•"/>
            </a:pPr>
            <a:r>
              <a:rPr lang="en-IN" dirty="0">
                <a:latin typeface="Times New Roman" panose="02020603050405020304" pitchFamily="18" charset="0"/>
                <a:ea typeface="Verdana" panose="020B0604030504040204" pitchFamily="34" charset="0"/>
                <a:cs typeface="Times New Roman" panose="02020603050405020304" pitchFamily="18" charset="0"/>
              </a:rPr>
              <a:t>Clearly define the issue of power consumption in RTL circuits.</a:t>
            </a:r>
          </a:p>
          <a:p>
            <a:pPr marL="285750" lvl="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Outline the project's objectives, goals, and methodology.</a:t>
            </a:r>
          </a:p>
          <a:p>
            <a:pPr lvl="0"/>
            <a:endParaRPr lang="en-US" b="1" dirty="0">
              <a:latin typeface="Times New Roman" panose="02020603050405020304" pitchFamily="18" charset="0"/>
              <a:ea typeface="Verdana" panose="020B0604030504040204" pitchFamily="34" charset="0"/>
              <a:cs typeface="Times New Roman" panose="02020603050405020304" pitchFamily="18" charset="0"/>
            </a:endParaRPr>
          </a:p>
          <a:p>
            <a:pPr lvl="0"/>
            <a:r>
              <a:rPr lang="en-US" b="1" dirty="0">
                <a:latin typeface="Times New Roman" panose="02020603050405020304" pitchFamily="18" charset="0"/>
                <a:cs typeface="Times New Roman" panose="02020603050405020304" pitchFamily="18" charset="0"/>
              </a:rPr>
              <a:t>Review 2: Unified Controller on a Full Adder</a:t>
            </a:r>
          </a:p>
          <a:p>
            <a:pPr marL="285750" lvl="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To combine multiple power-saving techniques under a single, advanced controller to achieve maximum energy efficiency.</a:t>
            </a:r>
          </a:p>
          <a:p>
            <a:pPr marL="285750" lvl="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Your controller now manages both </a:t>
            </a:r>
            <a:r>
              <a:rPr lang="en-US" b="1" dirty="0">
                <a:latin typeface="Times New Roman" panose="02020603050405020304" pitchFamily="18" charset="0"/>
                <a:cs typeface="Times New Roman" panose="02020603050405020304" pitchFamily="18" charset="0"/>
              </a:rPr>
              <a:t>clock gating</a:t>
            </a:r>
            <a:r>
              <a:rPr lang="en-US" dirty="0">
                <a:latin typeface="Times New Roman" panose="02020603050405020304" pitchFamily="18" charset="0"/>
                <a:cs typeface="Times New Roman" panose="02020603050405020304" pitchFamily="18" charset="0"/>
              </a:rPr>
              <a:t> (for light sleep) and </a:t>
            </a:r>
            <a:r>
              <a:rPr lang="en-US" b="1" dirty="0">
                <a:latin typeface="Times New Roman" panose="02020603050405020304" pitchFamily="18" charset="0"/>
                <a:cs typeface="Times New Roman" panose="02020603050405020304" pitchFamily="18" charset="0"/>
              </a:rPr>
              <a:t>frequency scaling</a:t>
            </a:r>
            <a:r>
              <a:rPr lang="en-US" dirty="0">
                <a:latin typeface="Times New Roman" panose="02020603050405020304" pitchFamily="18" charset="0"/>
                <a:cs typeface="Times New Roman" panose="02020603050405020304" pitchFamily="18" charset="0"/>
              </a:rPr>
              <a:t> (for deep sleep) based on the duration of inactivity. This is the </a:t>
            </a:r>
            <a:r>
              <a:rPr lang="en-US" b="1" dirty="0">
                <a:latin typeface="Times New Roman" panose="02020603050405020304" pitchFamily="18" charset="0"/>
                <a:cs typeface="Times New Roman" panose="02020603050405020304" pitchFamily="18" charset="0"/>
              </a:rPr>
              <a:t>unified adaptive system</a:t>
            </a:r>
            <a:r>
              <a:rPr lang="en-US" dirty="0">
                <a:latin typeface="Times New Roman" panose="02020603050405020304" pitchFamily="18" charset="0"/>
                <a:cs typeface="Times New Roman" panose="02020603050405020304" pitchFamily="18" charset="0"/>
              </a:rPr>
              <a:t> we've been working on.</a:t>
            </a:r>
          </a:p>
          <a:p>
            <a:pPr marL="285750" lvl="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This is where you show your best results, including the significant power reduction numbers and the functional waveforms that validate your Light Sleep and Deep Sleep modes.</a:t>
            </a:r>
            <a:endParaRPr lang="en-US" b="1" dirty="0">
              <a:latin typeface="Times New Roman" panose="02020603050405020304" pitchFamily="18" charset="0"/>
              <a:cs typeface="Times New Roman" panose="02020603050405020304" pitchFamily="18" charset="0"/>
            </a:endParaRPr>
          </a:p>
          <a:p>
            <a:pPr lvl="0"/>
            <a:endParaRPr lang="en-IN" b="1" dirty="0">
              <a:latin typeface="Times New Roman" panose="02020603050405020304" pitchFamily="18" charset="0"/>
              <a:ea typeface="Verdana" panose="020B0604030504040204" pitchFamily="34" charset="0"/>
              <a:cs typeface="Times New Roman" panose="02020603050405020304" pitchFamily="18" charset="0"/>
            </a:endParaRPr>
          </a:p>
        </p:txBody>
      </p:sp>
      <p:sp>
        <p:nvSpPr>
          <p:cNvPr id="3" name="Slide Number Placeholder 2">
            <a:extLst>
              <a:ext uri="{FF2B5EF4-FFF2-40B4-BE49-F238E27FC236}">
                <a16:creationId xmlns:a16="http://schemas.microsoft.com/office/drawing/2014/main" id="{83241AC6-CE23-A38B-BD86-17E34844F78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latin typeface="Times New Roman" panose="02020603050405020304" pitchFamily="18" charset="0"/>
                <a:cs typeface="Times New Roman" panose="02020603050405020304" pitchFamily="18" charset="0"/>
              </a:rPr>
              <a:t>3</a:t>
            </a:fld>
            <a:endParaRPr lang="en-US" dirty="0">
              <a:latin typeface="Times New Roman" panose="02020603050405020304" pitchFamily="18" charset="0"/>
              <a:cs typeface="Times New Roman" panose="02020603050405020304" pitchFamily="18" charset="0"/>
            </a:endParaRPr>
          </a:p>
        </p:txBody>
      </p:sp>
      <p:sp>
        <p:nvSpPr>
          <p:cNvPr id="5" name="Google Shape;125;p3">
            <a:extLst>
              <a:ext uri="{FF2B5EF4-FFF2-40B4-BE49-F238E27FC236}">
                <a16:creationId xmlns:a16="http://schemas.microsoft.com/office/drawing/2014/main" id="{12977A3E-566F-814B-0D9C-37C0E1141171}"/>
              </a:ext>
            </a:extLst>
          </p:cNvPr>
          <p:cNvSpPr txBox="1"/>
          <p:nvPr/>
        </p:nvSpPr>
        <p:spPr>
          <a:xfrm>
            <a:off x="452283" y="357755"/>
            <a:ext cx="10515600" cy="493857"/>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None/>
            </a:pPr>
            <a:r>
              <a:rPr lang="en-US" sz="2400" b="1" i="0" u="none" strike="noStrike" cap="none" dirty="0">
                <a:solidFill>
                  <a:srgbClr val="000000"/>
                </a:solidFill>
                <a:latin typeface="Times New Roman" panose="02020603050405020304" pitchFamily="18" charset="0"/>
                <a:ea typeface="Montserrat"/>
                <a:cs typeface="Times New Roman" panose="02020603050405020304" pitchFamily="18" charset="0"/>
                <a:sym typeface="Montserrat"/>
              </a:rPr>
              <a:t>Project Plan (Clearly mention milestone for objectives under each reviews)</a:t>
            </a:r>
            <a:endParaRPr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16315554"/>
      </p:ext>
    </p:extLst>
  </p:cSld>
  <p:clrMapOvr>
    <a:masterClrMapping/>
  </p:clrMapOvr>
  <mc:AlternateContent xmlns:mc="http://schemas.openxmlformats.org/markup-compatibility/2006" xmlns:p14="http://schemas.microsoft.com/office/powerpoint/2010/main">
    <mc:Choice Requires="p14">
      <p:transition spd="slow" p14:dur="2000" advTm="99778"/>
    </mc:Choice>
    <mc:Fallback xmlns="">
      <p:transition spd="slow" advTm="99778"/>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AEAB61C2-B595-6D36-CB78-3791DED7225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latin typeface="Times New Roman" panose="02020603050405020304" pitchFamily="18" charset="0"/>
                <a:cs typeface="Times New Roman" panose="02020603050405020304" pitchFamily="18" charset="0"/>
              </a:rPr>
              <a:t>4</a:t>
            </a:fld>
            <a:endParaRPr lang="en-US" dirty="0">
              <a:latin typeface="Times New Roman" panose="02020603050405020304" pitchFamily="18" charset="0"/>
              <a:cs typeface="Times New Roman" panose="02020603050405020304" pitchFamily="18" charset="0"/>
            </a:endParaRPr>
          </a:p>
        </p:txBody>
      </p:sp>
      <p:sp>
        <p:nvSpPr>
          <p:cNvPr id="4" name="Google Shape;125;p3">
            <a:extLst>
              <a:ext uri="{FF2B5EF4-FFF2-40B4-BE49-F238E27FC236}">
                <a16:creationId xmlns:a16="http://schemas.microsoft.com/office/drawing/2014/main" id="{050F573B-21F3-B526-5212-5E481ED19CDC}"/>
              </a:ext>
            </a:extLst>
          </p:cNvPr>
          <p:cNvSpPr txBox="1"/>
          <p:nvPr/>
        </p:nvSpPr>
        <p:spPr>
          <a:xfrm>
            <a:off x="1000124" y="232275"/>
            <a:ext cx="10515600" cy="493857"/>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None/>
            </a:pPr>
            <a:r>
              <a:rPr lang="en-US" sz="2400" b="1" dirty="0">
                <a:latin typeface="Times New Roman" panose="02020603050405020304" pitchFamily="18" charset="0"/>
                <a:cs typeface="Times New Roman" panose="02020603050405020304" pitchFamily="18" charset="0"/>
                <a:sym typeface="Montserrat"/>
              </a:rPr>
              <a:t>Literature Survey</a:t>
            </a:r>
            <a:endParaRPr dirty="0">
              <a:latin typeface="Times New Roman" panose="02020603050405020304" pitchFamily="18" charset="0"/>
              <a:cs typeface="Times New Roman" panose="02020603050405020304" pitchFamily="18" charset="0"/>
            </a:endParaRPr>
          </a:p>
        </p:txBody>
      </p:sp>
      <p:sp>
        <p:nvSpPr>
          <p:cNvPr id="5" name="Google Shape;125;p3">
            <a:extLst>
              <a:ext uri="{FF2B5EF4-FFF2-40B4-BE49-F238E27FC236}">
                <a16:creationId xmlns:a16="http://schemas.microsoft.com/office/drawing/2014/main" id="{189FAE14-3F2D-9B3A-FA7E-862D36BC1477}"/>
              </a:ext>
            </a:extLst>
          </p:cNvPr>
          <p:cNvSpPr txBox="1"/>
          <p:nvPr/>
        </p:nvSpPr>
        <p:spPr>
          <a:xfrm>
            <a:off x="452283" y="871532"/>
            <a:ext cx="11326761" cy="5735761"/>
          </a:xfrm>
          <a:prstGeom prst="rect">
            <a:avLst/>
          </a:prstGeom>
          <a:noFill/>
          <a:ln>
            <a:noFill/>
          </a:ln>
        </p:spPr>
        <p:txBody>
          <a:bodyPr spcFirstLastPara="1" wrap="square" lIns="91425" tIns="45700" rIns="91425" bIns="45700" anchor="t" anchorCtr="0">
            <a:noAutofit/>
          </a:bodyPr>
          <a:lstStyle/>
          <a:p>
            <a:pPr marL="0" marR="0" lvl="0" indent="0" rtl="0">
              <a:lnSpc>
                <a:spcPct val="100000"/>
              </a:lnSpc>
              <a:spcBef>
                <a:spcPts val="0"/>
              </a:spcBef>
              <a:spcAft>
                <a:spcPts val="0"/>
              </a:spcAft>
              <a:buNone/>
            </a:pPr>
            <a:r>
              <a:rPr lang="en-IN" b="1" dirty="0">
                <a:latin typeface="Times New Roman" panose="02020603050405020304" pitchFamily="18" charset="0"/>
                <a:ea typeface="Verdana" panose="020B0604030504040204" pitchFamily="34" charset="0"/>
                <a:cs typeface="Times New Roman" panose="02020603050405020304" pitchFamily="18" charset="0"/>
              </a:rPr>
              <a:t>Key Publications </a:t>
            </a:r>
          </a:p>
          <a:p>
            <a:pPr lvl="0"/>
            <a:r>
              <a:rPr lang="en-US" b="1" dirty="0">
                <a:latin typeface="Times New Roman" panose="02020603050405020304" pitchFamily="18" charset="0"/>
                <a:cs typeface="Times New Roman" panose="02020603050405020304" pitchFamily="18" charset="0"/>
              </a:rPr>
              <a:t>Power Reduction Through RTL Clock Gating[1]</a:t>
            </a:r>
          </a:p>
          <a:p>
            <a:pPr marL="285750" lvl="0" indent="-285750">
              <a:buFont typeface="Arial" panose="020B0604020202020204" pitchFamily="34" charset="0"/>
              <a:buChar char="•"/>
            </a:pPr>
            <a:r>
              <a:rPr lang="en-IN" dirty="0">
                <a:latin typeface="Times New Roman" panose="02020603050405020304" pitchFamily="18" charset="0"/>
                <a:ea typeface="Verdana" panose="020B0604030504040204" pitchFamily="34" charset="0"/>
                <a:cs typeface="Times New Roman" panose="02020603050405020304" pitchFamily="18" charset="0"/>
              </a:rPr>
              <a:t>Validated a design methodology for reducing ASIC power using RTL clock gating</a:t>
            </a:r>
            <a:r>
              <a:rPr lang="en-IN" b="1" dirty="0">
                <a:latin typeface="Times New Roman" panose="02020603050405020304" pitchFamily="18" charset="0"/>
                <a:ea typeface="Verdana" panose="020B0604030504040204" pitchFamily="34" charset="0"/>
                <a:cs typeface="Times New Roman" panose="02020603050405020304" pitchFamily="18" charset="0"/>
              </a:rPr>
              <a:t>.</a:t>
            </a:r>
          </a:p>
          <a:p>
            <a:pPr marL="285750" lvl="0" indent="-285750">
              <a:buFont typeface="Arial" panose="020B0604020202020204" pitchFamily="34" charset="0"/>
              <a:buChar char="•"/>
            </a:pPr>
            <a:r>
              <a:rPr lang="en-IN" dirty="0">
                <a:latin typeface="Times New Roman" panose="02020603050405020304" pitchFamily="18" charset="0"/>
                <a:ea typeface="Verdana" panose="020B0604030504040204" pitchFamily="34" charset="0"/>
                <a:cs typeface="Times New Roman" panose="02020603050405020304" pitchFamily="18" charset="0"/>
              </a:rPr>
              <a:t>Proved that RTL clock gating can reduce dynamic current consumption by 72%( 280mA to 78mA) on a real world 200K=gate ASIC.</a:t>
            </a:r>
          </a:p>
          <a:p>
            <a:pPr marL="285750" lvl="0" indent="-285750">
              <a:buFont typeface="Arial" panose="020B0604020202020204" pitchFamily="34" charset="0"/>
              <a:buChar char="•"/>
            </a:pPr>
            <a:r>
              <a:rPr lang="en-IN" dirty="0">
                <a:latin typeface="Times New Roman" panose="02020603050405020304" pitchFamily="18" charset="0"/>
                <a:ea typeface="Verdana" panose="020B0604030504040204" pitchFamily="34" charset="0"/>
                <a:cs typeface="Times New Roman" panose="02020603050405020304" pitchFamily="18" charset="0"/>
              </a:rPr>
              <a:t>The technique was most effective at reducing power from flipflops, achieving an 80% reduction from that area.</a:t>
            </a:r>
          </a:p>
          <a:p>
            <a:pPr marL="285750" lvl="0" indent="-285750">
              <a:buFont typeface="Arial" panose="020B0604020202020204" pitchFamily="34" charset="0"/>
              <a:buChar char="•"/>
            </a:pPr>
            <a:r>
              <a:rPr lang="en-IN" dirty="0">
                <a:latin typeface="Times New Roman" panose="02020603050405020304" pitchFamily="18" charset="0"/>
                <a:ea typeface="Verdana" panose="020B0604030504040204" pitchFamily="34" charset="0"/>
                <a:cs typeface="Times New Roman" panose="02020603050405020304" pitchFamily="18" charset="0"/>
              </a:rPr>
              <a:t>Found that RTL clock gating resulted in significant 6.75 cell area savings by eliminating multiplexers.</a:t>
            </a:r>
          </a:p>
          <a:p>
            <a:pPr lvl="0"/>
            <a:r>
              <a:rPr lang="en-IN" b="1" dirty="0">
                <a:latin typeface="Times New Roman" panose="02020603050405020304" pitchFamily="18" charset="0"/>
                <a:ea typeface="Verdana" panose="020B0604030504040204" pitchFamily="34" charset="0"/>
                <a:cs typeface="Times New Roman" panose="02020603050405020304" pitchFamily="18" charset="0"/>
              </a:rPr>
              <a:t>Enhanced clock gating technique for power optimization in SRAM and Sequential circuit.[2]</a:t>
            </a:r>
          </a:p>
          <a:p>
            <a:pPr marL="285750" lvl="0" indent="-285750">
              <a:buFont typeface="Arial" panose="020B0604020202020204" pitchFamily="34" charset="0"/>
              <a:buChar char="•"/>
            </a:pPr>
            <a:r>
              <a:rPr lang="en-IN" dirty="0">
                <a:latin typeface="Times New Roman" panose="02020603050405020304" pitchFamily="18" charset="0"/>
                <a:ea typeface="Verdana" panose="020B0604030504040204" pitchFamily="34" charset="0"/>
                <a:cs typeface="Times New Roman" panose="02020603050405020304" pitchFamily="18" charset="0"/>
              </a:rPr>
              <a:t>This paper proposes enhanced clock gating technique using D latch and a buffer to reduce power consumption. </a:t>
            </a:r>
          </a:p>
          <a:p>
            <a:pPr marL="285750" lvl="0" indent="-285750">
              <a:buFont typeface="Arial" panose="020B0604020202020204" pitchFamily="34" charset="0"/>
              <a:buChar char="•"/>
            </a:pPr>
            <a:r>
              <a:rPr lang="en-IN" dirty="0">
                <a:latin typeface="Times New Roman" panose="02020603050405020304" pitchFamily="18" charset="0"/>
                <a:ea typeface="Verdana" panose="020B0604030504040204" pitchFamily="34" charset="0"/>
                <a:cs typeface="Times New Roman" panose="02020603050405020304" pitchFamily="18" charset="0"/>
              </a:rPr>
              <a:t>It aims to solve common issues like glitching and clock triggering found in traditional clock gating.</a:t>
            </a:r>
          </a:p>
          <a:p>
            <a:pPr marL="285750" lvl="0" indent="-285750">
              <a:buFont typeface="Arial" panose="020B0604020202020204" pitchFamily="34" charset="0"/>
              <a:buChar char="•"/>
            </a:pPr>
            <a:r>
              <a:rPr lang="en-IN" dirty="0">
                <a:latin typeface="Times New Roman" panose="02020603050405020304" pitchFamily="18" charset="0"/>
                <a:ea typeface="Verdana" panose="020B0604030504040204" pitchFamily="34" charset="0"/>
                <a:cs typeface="Times New Roman" panose="02020603050405020304" pitchFamily="18" charset="0"/>
              </a:rPr>
              <a:t>The proposed logic achieves a power consumption of 1.065W and a delay of 6ns on a sequential circuit.</a:t>
            </a:r>
          </a:p>
          <a:p>
            <a:pPr marL="285750" lvl="0" indent="-285750">
              <a:buFont typeface="Arial" panose="020B0604020202020204" pitchFamily="34" charset="0"/>
              <a:buChar char="•"/>
            </a:pPr>
            <a:r>
              <a:rPr lang="en-IN" dirty="0">
                <a:latin typeface="Times New Roman" panose="02020603050405020304" pitchFamily="18" charset="0"/>
                <a:ea typeface="Verdana" panose="020B0604030504040204" pitchFamily="34" charset="0"/>
                <a:cs typeface="Times New Roman" panose="02020603050405020304" pitchFamily="18" charset="0"/>
              </a:rPr>
              <a:t>This is significant improvement over a traditional 4-bit counter without clock gating which has power of 22.96W and a delay of 72ns.</a:t>
            </a:r>
          </a:p>
          <a:p>
            <a:pPr lvl="0"/>
            <a:r>
              <a:rPr lang="en-IN" b="1" dirty="0">
                <a:latin typeface="Times New Roman" panose="02020603050405020304" pitchFamily="18" charset="0"/>
                <a:ea typeface="Verdana" panose="020B0604030504040204" pitchFamily="34" charset="0"/>
                <a:cs typeface="Times New Roman" panose="02020603050405020304" pitchFamily="18" charset="0"/>
              </a:rPr>
              <a:t>Implementation of adaptive clock gating technique for Low power circuits – A Review[3]</a:t>
            </a:r>
          </a:p>
          <a:p>
            <a:pPr marL="285750" lvl="0" indent="-285750">
              <a:buFont typeface="Arial" panose="020B0604020202020204" pitchFamily="34" charset="0"/>
              <a:buChar char="•"/>
            </a:pPr>
            <a:r>
              <a:rPr lang="en-IN" dirty="0">
                <a:latin typeface="Times New Roman" panose="02020603050405020304" pitchFamily="18" charset="0"/>
                <a:ea typeface="Verdana" panose="020B0604030504040204" pitchFamily="34" charset="0"/>
                <a:cs typeface="Times New Roman" panose="02020603050405020304" pitchFamily="18" charset="0"/>
              </a:rPr>
              <a:t>This paper reviews various clock gating methods and concludes that adaptive clock gating is the most robust technique.</a:t>
            </a:r>
          </a:p>
          <a:p>
            <a:pPr marL="285750" lvl="0" indent="-285750">
              <a:buFont typeface="Arial" panose="020B0604020202020204" pitchFamily="34" charset="0"/>
              <a:buChar char="•"/>
            </a:pPr>
            <a:r>
              <a:rPr lang="en-IN" dirty="0">
                <a:latin typeface="Times New Roman" panose="02020603050405020304" pitchFamily="18" charset="0"/>
                <a:ea typeface="Verdana" panose="020B0604030504040204" pitchFamily="34" charset="0"/>
                <a:cs typeface="Times New Roman" panose="02020603050405020304" pitchFamily="18" charset="0"/>
              </a:rPr>
              <a:t>It compares latch based, flip flop based and gate based clock gating, finding the gate based method is most efficient.</a:t>
            </a:r>
          </a:p>
          <a:p>
            <a:pPr marL="285750" lvl="0" indent="-285750">
              <a:buFont typeface="Arial" panose="020B0604020202020204" pitchFamily="34" charset="0"/>
              <a:buChar char="•"/>
            </a:pPr>
            <a:r>
              <a:rPr lang="en-IN" dirty="0">
                <a:latin typeface="Times New Roman" panose="02020603050405020304" pitchFamily="18" charset="0"/>
                <a:ea typeface="Verdana" panose="020B0604030504040204" pitchFamily="34" charset="0"/>
                <a:cs typeface="Times New Roman" panose="02020603050405020304" pitchFamily="18" charset="0"/>
              </a:rPr>
              <a:t>Case study showed that a power reduction of 21.5% in random flipflop design and 6% in 3-bit counter.</a:t>
            </a:r>
          </a:p>
          <a:p>
            <a:pPr marL="285750" lvl="0" indent="-285750">
              <a:buFont typeface="Arial" panose="020B0604020202020204" pitchFamily="34" charset="0"/>
              <a:buChar char="•"/>
            </a:pPr>
            <a:r>
              <a:rPr lang="en-IN" dirty="0">
                <a:latin typeface="Times New Roman" panose="02020603050405020304" pitchFamily="18" charset="0"/>
                <a:ea typeface="Verdana" panose="020B0604030504040204" pitchFamily="34" charset="0"/>
                <a:cs typeface="Times New Roman" panose="02020603050405020304" pitchFamily="18" charset="0"/>
              </a:rPr>
              <a:t>It concludes that the amount of power reduction varies depending on system’s specific activity and logic.</a:t>
            </a:r>
          </a:p>
          <a:p>
            <a:pPr marR="0" lvl="0" rtl="0">
              <a:lnSpc>
                <a:spcPct val="100000"/>
              </a:lnSpc>
              <a:spcBef>
                <a:spcPts val="0"/>
              </a:spcBef>
              <a:spcAft>
                <a:spcPts val="0"/>
              </a:spcAft>
            </a:pPr>
            <a:endParaRPr lang="en-IN" dirty="0">
              <a:latin typeface="Times New Roman" panose="02020603050405020304" pitchFamily="18" charset="0"/>
              <a:ea typeface="Verdana" panose="020B0604030504040204" pitchFamily="34" charset="0"/>
              <a:cs typeface="Times New Roman" panose="02020603050405020304" pitchFamily="18" charset="0"/>
            </a:endParaRPr>
          </a:p>
          <a:p>
            <a:pPr marR="0" lvl="0" rtl="0">
              <a:lnSpc>
                <a:spcPct val="100000"/>
              </a:lnSpc>
              <a:spcBef>
                <a:spcPts val="0"/>
              </a:spcBef>
              <a:spcAft>
                <a:spcPts val="0"/>
              </a:spcAft>
            </a:pPr>
            <a:r>
              <a:rPr lang="en-IN" dirty="0">
                <a:latin typeface="Times New Roman" panose="02020603050405020304" pitchFamily="18" charset="0"/>
                <a:ea typeface="Verdana" panose="020B0604030504040204" pitchFamily="34" charset="0"/>
                <a:cs typeface="Times New Roman" panose="02020603050405020304" pitchFamily="18" charset="0"/>
              </a:rPr>
              <a:t> </a:t>
            </a:r>
          </a:p>
        </p:txBody>
      </p:sp>
    </p:spTree>
    <p:extLst>
      <p:ext uri="{BB962C8B-B14F-4D97-AF65-F5344CB8AC3E}">
        <p14:creationId xmlns:p14="http://schemas.microsoft.com/office/powerpoint/2010/main" val="2538241455"/>
      </p:ext>
    </p:extLst>
  </p:cSld>
  <p:clrMapOvr>
    <a:masterClrMapping/>
  </p:clrMapOvr>
  <mc:AlternateContent xmlns:mc="http://schemas.openxmlformats.org/markup-compatibility/2006" xmlns:p14="http://schemas.microsoft.com/office/powerpoint/2010/main">
    <mc:Choice Requires="p14">
      <p:transition spd="slow" p14:dur="2000" advTm="235316"/>
    </mc:Choice>
    <mc:Fallback xmlns="">
      <p:transition spd="slow" advTm="235316"/>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25;p3">
            <a:extLst>
              <a:ext uri="{FF2B5EF4-FFF2-40B4-BE49-F238E27FC236}">
                <a16:creationId xmlns:a16="http://schemas.microsoft.com/office/drawing/2014/main" id="{E5CF2473-D1D4-FF13-8EDB-ADE0B3C9DDDE}"/>
              </a:ext>
            </a:extLst>
          </p:cNvPr>
          <p:cNvSpPr txBox="1"/>
          <p:nvPr/>
        </p:nvSpPr>
        <p:spPr>
          <a:xfrm>
            <a:off x="314633" y="304800"/>
            <a:ext cx="11434915" cy="6371319"/>
          </a:xfrm>
          <a:prstGeom prst="rect">
            <a:avLst/>
          </a:prstGeom>
          <a:noFill/>
          <a:ln>
            <a:noFill/>
          </a:ln>
        </p:spPr>
        <p:txBody>
          <a:bodyPr spcFirstLastPara="1" wrap="square" lIns="91425" tIns="45700" rIns="91425" bIns="45700" anchor="t" anchorCtr="0">
            <a:noAutofit/>
          </a:bodyPr>
          <a:lstStyle/>
          <a:p>
            <a:pPr marL="0" marR="0" lvl="0" indent="0" rtl="0">
              <a:lnSpc>
                <a:spcPct val="100000"/>
              </a:lnSpc>
              <a:spcBef>
                <a:spcPts val="0"/>
              </a:spcBef>
              <a:spcAft>
                <a:spcPts val="0"/>
              </a:spcAft>
              <a:buNone/>
            </a:pPr>
            <a:r>
              <a:rPr lang="en-IN" b="1" dirty="0">
                <a:latin typeface="Times New Roman" panose="02020603050405020304" pitchFamily="18" charset="0"/>
                <a:ea typeface="Verdana" panose="020B0604030504040204" pitchFamily="34" charset="0"/>
                <a:cs typeface="Times New Roman" panose="02020603050405020304" pitchFamily="18" charset="0"/>
              </a:rPr>
              <a:t>Key Resources – Whitepaper| Application Notes |  Datasheet| Others</a:t>
            </a:r>
          </a:p>
          <a:p>
            <a:pPr marL="285750" marR="0" lvl="0" indent="-285750" rtl="0">
              <a:lnSpc>
                <a:spcPct val="100000"/>
              </a:lnSpc>
              <a:spcBef>
                <a:spcPts val="0"/>
              </a:spcBef>
              <a:spcAft>
                <a:spcPts val="0"/>
              </a:spcAft>
              <a:buFont typeface="Arial" panose="020B0604020202020204" pitchFamily="34" charset="0"/>
              <a:buChar char="•"/>
            </a:pPr>
            <a:r>
              <a:rPr lang="en-IN" dirty="0" err="1">
                <a:latin typeface="Times New Roman" panose="02020603050405020304" pitchFamily="18" charset="0"/>
                <a:ea typeface="Verdana" panose="020B0604030504040204" pitchFamily="34" charset="0"/>
                <a:cs typeface="Times New Roman" panose="02020603050405020304" pitchFamily="18" charset="0"/>
                <a:hlinkClick r:id="rId2"/>
              </a:rPr>
              <a:t>Artix</a:t>
            </a:r>
            <a:r>
              <a:rPr lang="en-IN" dirty="0">
                <a:latin typeface="Times New Roman" panose="02020603050405020304" pitchFamily="18" charset="0"/>
                <a:ea typeface="Verdana" panose="020B0604030504040204" pitchFamily="34" charset="0"/>
                <a:cs typeface="Times New Roman" panose="02020603050405020304" pitchFamily="18" charset="0"/>
                <a:hlinkClick r:id="rId2"/>
              </a:rPr>
              <a:t> – 7</a:t>
            </a:r>
            <a:r>
              <a:rPr lang="en-IN" dirty="0">
                <a:latin typeface="Times New Roman" panose="02020603050405020304" pitchFamily="18" charset="0"/>
                <a:ea typeface="Verdana" panose="020B0604030504040204" pitchFamily="34" charset="0"/>
                <a:cs typeface="Times New Roman" panose="02020603050405020304" pitchFamily="18" charset="0"/>
              </a:rPr>
              <a:t> datasheet</a:t>
            </a:r>
          </a:p>
          <a:p>
            <a:pPr marL="285750" marR="0" lvl="0" indent="-285750" rtl="0">
              <a:lnSpc>
                <a:spcPct val="100000"/>
              </a:lnSpc>
              <a:spcBef>
                <a:spcPts val="0"/>
              </a:spcBef>
              <a:spcAft>
                <a:spcPts val="0"/>
              </a:spcAft>
              <a:buFont typeface="Arial" panose="020B0604020202020204" pitchFamily="34" charset="0"/>
              <a:buChar char="•"/>
            </a:pPr>
            <a:endParaRPr lang="en-IN" dirty="0">
              <a:latin typeface="Times New Roman" panose="02020603050405020304" pitchFamily="18" charset="0"/>
              <a:ea typeface="Verdana" panose="020B0604030504040204" pitchFamily="34" charset="0"/>
              <a:cs typeface="Times New Roman" panose="02020603050405020304" pitchFamily="18" charset="0"/>
            </a:endParaRPr>
          </a:p>
          <a:p>
            <a:pPr marL="0" marR="0" lvl="0" indent="0" rtl="0">
              <a:lnSpc>
                <a:spcPct val="100000"/>
              </a:lnSpc>
              <a:spcBef>
                <a:spcPts val="0"/>
              </a:spcBef>
              <a:spcAft>
                <a:spcPts val="0"/>
              </a:spcAft>
              <a:buNone/>
            </a:pPr>
            <a:r>
              <a:rPr lang="en-IN" b="1" dirty="0">
                <a:latin typeface="Times New Roman" panose="02020603050405020304" pitchFamily="18" charset="0"/>
                <a:ea typeface="Verdana" panose="020B0604030504040204" pitchFamily="34" charset="0"/>
                <a:cs typeface="Times New Roman" panose="02020603050405020304" pitchFamily="18" charset="0"/>
              </a:rPr>
              <a:t>Existing Implementations – Products| Opensource| GitHub etc </a:t>
            </a:r>
          </a:p>
          <a:p>
            <a:pPr lvl="0"/>
            <a:r>
              <a:rPr lang="en-US" dirty="0">
                <a:latin typeface="Times New Roman" panose="02020603050405020304" pitchFamily="18" charset="0"/>
                <a:cs typeface="Times New Roman" panose="02020603050405020304" pitchFamily="18" charset="0"/>
              </a:rPr>
              <a:t>1.  </a:t>
            </a:r>
            <a:r>
              <a:rPr lang="en-US" b="1" dirty="0">
                <a:latin typeface="Times New Roman" panose="02020603050405020304" pitchFamily="18" charset="0"/>
                <a:cs typeface="Times New Roman" panose="02020603050405020304" pitchFamily="18" charset="0"/>
              </a:rPr>
              <a:t>Gate based clock gating:</a:t>
            </a:r>
          </a:p>
          <a:p>
            <a:pPr marL="285750" lvl="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This is one of the simplest and most efficient clock gating techniques, where a logic gate (such as an AND, OR, or NOR gate) is used to control the clock signal. The design is simple and has less area occupied</a:t>
            </a:r>
          </a:p>
          <a:p>
            <a:pPr lvl="0"/>
            <a:r>
              <a:rPr lang="en-US" dirty="0">
                <a:latin typeface="Times New Roman" panose="02020603050405020304" pitchFamily="18" charset="0"/>
                <a:cs typeface="Times New Roman" panose="02020603050405020304" pitchFamily="18" charset="0"/>
              </a:rPr>
              <a:t>2. </a:t>
            </a:r>
            <a:r>
              <a:rPr lang="en-IN" b="1" dirty="0">
                <a:latin typeface="Times New Roman" panose="02020603050405020304" pitchFamily="18" charset="0"/>
                <a:cs typeface="Times New Roman" panose="02020603050405020304" pitchFamily="18" charset="0"/>
              </a:rPr>
              <a:t>Latch-based clock gating:</a:t>
            </a:r>
          </a:p>
          <a:p>
            <a:pPr marL="285750" lvl="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This technique uses a level-sensitive latch as the controlling element for the clock. It avoids glitches and has a good performance, but it has a long sleep period and can cause a mismatch in delay.</a:t>
            </a:r>
          </a:p>
          <a:p>
            <a:pPr lvl="0"/>
            <a:r>
              <a:rPr lang="en-US" dirty="0">
                <a:latin typeface="Times New Roman" panose="02020603050405020304" pitchFamily="18" charset="0"/>
                <a:cs typeface="Times New Roman" panose="02020603050405020304" pitchFamily="18" charset="0"/>
              </a:rPr>
              <a:t>3</a:t>
            </a:r>
            <a:r>
              <a:rPr lang="en-US" b="1" dirty="0">
                <a:latin typeface="Times New Roman" panose="02020603050405020304" pitchFamily="18" charset="0"/>
                <a:cs typeface="Times New Roman" panose="02020603050405020304" pitchFamily="18" charset="0"/>
              </a:rPr>
              <a:t>. </a:t>
            </a:r>
            <a:r>
              <a:rPr lang="en-IN" b="1" dirty="0">
                <a:latin typeface="Times New Roman" panose="02020603050405020304" pitchFamily="18" charset="0"/>
                <a:cs typeface="Times New Roman" panose="02020603050405020304" pitchFamily="18" charset="0"/>
              </a:rPr>
              <a:t>Flip-flop based clock gating:</a:t>
            </a:r>
          </a:p>
          <a:p>
            <a:pPr marL="285750" lvl="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This method uses an edge-triggered flip-flop to control the clock enable pin. Flip-flop based gating is not highly preferred due to high power consumption, high switching activity, and large area usage.</a:t>
            </a:r>
          </a:p>
          <a:p>
            <a:pPr lvl="0"/>
            <a:r>
              <a:rPr lang="en-IN" dirty="0">
                <a:latin typeface="Times New Roman" panose="02020603050405020304" pitchFamily="18" charset="0"/>
                <a:cs typeface="Times New Roman" panose="02020603050405020304" pitchFamily="18" charset="0"/>
              </a:rPr>
              <a:t>4. </a:t>
            </a:r>
            <a:r>
              <a:rPr lang="en-IN" b="1" dirty="0">
                <a:latin typeface="Times New Roman" panose="02020603050405020304" pitchFamily="18" charset="0"/>
                <a:cs typeface="Times New Roman" panose="02020603050405020304" pitchFamily="18" charset="0"/>
              </a:rPr>
              <a:t>Synthesis-based clock gating:</a:t>
            </a:r>
          </a:p>
          <a:p>
            <a:pPr marL="285750" lvl="0" indent="-28575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This is widely used 	method where EDA tools automatically insert clock gating to reduce clock pulses. It is easy to implement and has less timing constraints, but it can have a high redundant problem and consume more power compared to other techniques.</a:t>
            </a:r>
          </a:p>
          <a:p>
            <a:pPr lvl="0"/>
            <a:r>
              <a:rPr lang="en-US" b="1" dirty="0">
                <a:latin typeface="Times New Roman" panose="02020603050405020304" pitchFamily="18" charset="0"/>
                <a:cs typeface="Times New Roman" panose="02020603050405020304" pitchFamily="18" charset="0"/>
              </a:rPr>
              <a:t>5. Data-driven based clock gating:</a:t>
            </a:r>
            <a:r>
              <a:rPr lang="en-US" dirty="0">
                <a:latin typeface="Times New Roman" panose="02020603050405020304" pitchFamily="18" charset="0"/>
                <a:cs typeface="Times New Roman" panose="02020603050405020304" pitchFamily="18" charset="0"/>
              </a:rPr>
              <a:t> </a:t>
            </a:r>
          </a:p>
          <a:p>
            <a:pPr marL="285750" lvl="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This technique blocks the clock signal in the next cycle by XOR-</a:t>
            </a:r>
            <a:r>
              <a:rPr lang="en-US" dirty="0" err="1">
                <a:latin typeface="Times New Roman" panose="02020603050405020304" pitchFamily="18" charset="0"/>
                <a:cs typeface="Times New Roman" panose="02020603050405020304" pitchFamily="18" charset="0"/>
              </a:rPr>
              <a:t>ing</a:t>
            </a:r>
            <a:r>
              <a:rPr lang="en-US" dirty="0">
                <a:latin typeface="Times New Roman" panose="02020603050405020304" pitchFamily="18" charset="0"/>
                <a:cs typeface="Times New Roman" panose="02020603050405020304" pitchFamily="18" charset="0"/>
              </a:rPr>
              <a:t> the current data output with the present data input. It consumes less power, avoids the redundant problem, and has moderate switching activity, but its implementation is difficult.</a:t>
            </a:r>
          </a:p>
          <a:p>
            <a:pPr lvl="0"/>
            <a:r>
              <a:rPr lang="en-US" dirty="0">
                <a:latin typeface="Times New Roman" panose="02020603050405020304" pitchFamily="18" charset="0"/>
                <a:cs typeface="Times New Roman" panose="02020603050405020304" pitchFamily="18" charset="0"/>
              </a:rPr>
              <a:t>6. </a:t>
            </a:r>
            <a:r>
              <a:rPr lang="en-US" b="1" dirty="0">
                <a:latin typeface="Times New Roman" panose="02020603050405020304" pitchFamily="18" charset="0"/>
                <a:cs typeface="Times New Roman" panose="02020603050405020304" pitchFamily="18" charset="0"/>
              </a:rPr>
              <a:t>Auto-gated clock gating:</a:t>
            </a:r>
          </a:p>
          <a:p>
            <a:pPr marL="285750" lvl="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 This method uses an auto-gated flip-flop for the design. It is easy to implement and has a less redundant problem, but it has high switching activity and high timing constraints. It only gates the slave latches and not the remaining clock loads.</a:t>
            </a:r>
          </a:p>
          <a:p>
            <a:pPr lvl="0"/>
            <a:r>
              <a:rPr lang="en-US" dirty="0">
                <a:latin typeface="Times New Roman" panose="02020603050405020304" pitchFamily="18" charset="0"/>
                <a:cs typeface="Times New Roman" panose="02020603050405020304" pitchFamily="18" charset="0"/>
              </a:rPr>
              <a:t>7.</a:t>
            </a:r>
            <a:r>
              <a:rPr lang="en-US" b="1" dirty="0">
                <a:latin typeface="Times New Roman" panose="02020603050405020304" pitchFamily="18" charset="0"/>
                <a:cs typeface="Times New Roman" panose="02020603050405020304" pitchFamily="18" charset="0"/>
              </a:rPr>
              <a:t> Look-ahead based clock gating:</a:t>
            </a:r>
          </a:p>
          <a:p>
            <a:pPr marL="285750" lvl="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 Similar to data-driven gating, this technique can stop most redundant clock pulses. It is preferred for its ability to avoid tight timing constraints and its easy circuit implementation. It also consumes less power and has less switching activity.</a:t>
            </a:r>
            <a:endParaRPr lang="en-IN" dirty="0">
              <a:latin typeface="Times New Roman" panose="02020603050405020304" pitchFamily="18" charset="0"/>
              <a:cs typeface="Times New Roman" panose="02020603050405020304" pitchFamily="18" charset="0"/>
            </a:endParaRPr>
          </a:p>
          <a:p>
            <a:pPr lvl="0"/>
            <a:endParaRPr lang="en-US" dirty="0">
              <a:latin typeface="Times New Roman" panose="02020603050405020304" pitchFamily="18" charset="0"/>
              <a:cs typeface="Times New Roman" panose="02020603050405020304" pitchFamily="18" charset="0"/>
            </a:endParaRPr>
          </a:p>
          <a:p>
            <a:pPr marL="285750" lvl="0" indent="-285750">
              <a:buFont typeface="Arial" panose="020B0604020202020204" pitchFamily="34" charset="0"/>
              <a:buChar char="•"/>
            </a:pPr>
            <a:endParaRPr lang="en-IN" dirty="0">
              <a:latin typeface="Times New Roman" panose="02020603050405020304" pitchFamily="18" charset="0"/>
              <a:ea typeface="Verdana" panose="020B0604030504040204" pitchFamily="34" charset="0"/>
              <a:cs typeface="Times New Roman" panose="02020603050405020304" pitchFamily="18" charset="0"/>
            </a:endParaRPr>
          </a:p>
          <a:p>
            <a:pPr marR="0" lvl="0" rtl="0">
              <a:lnSpc>
                <a:spcPct val="100000"/>
              </a:lnSpc>
              <a:spcBef>
                <a:spcPts val="0"/>
              </a:spcBef>
              <a:spcAft>
                <a:spcPts val="0"/>
              </a:spcAft>
            </a:pPr>
            <a:endParaRPr lang="en-IN" dirty="0">
              <a:latin typeface="Times New Roman" panose="02020603050405020304" pitchFamily="18" charset="0"/>
              <a:ea typeface="Verdana" panose="020B0604030504040204" pitchFamily="34" charset="0"/>
              <a:cs typeface="Times New Roman" panose="02020603050405020304" pitchFamily="18" charset="0"/>
            </a:endParaRPr>
          </a:p>
          <a:p>
            <a:pPr marR="0" lvl="0" rtl="0">
              <a:lnSpc>
                <a:spcPct val="100000"/>
              </a:lnSpc>
              <a:spcBef>
                <a:spcPts val="0"/>
              </a:spcBef>
              <a:spcAft>
                <a:spcPts val="0"/>
              </a:spcAft>
            </a:pPr>
            <a:endParaRPr lang="en-IN" dirty="0">
              <a:latin typeface="Times New Roman" panose="02020603050405020304" pitchFamily="18" charset="0"/>
              <a:ea typeface="Verdana" panose="020B0604030504040204" pitchFamily="34" charset="0"/>
              <a:cs typeface="Times New Roman" panose="02020603050405020304" pitchFamily="18" charset="0"/>
            </a:endParaRPr>
          </a:p>
          <a:p>
            <a:pPr marR="0" lvl="0" rtl="0">
              <a:lnSpc>
                <a:spcPct val="100000"/>
              </a:lnSpc>
              <a:spcBef>
                <a:spcPts val="0"/>
              </a:spcBef>
              <a:spcAft>
                <a:spcPts val="0"/>
              </a:spcAft>
            </a:pPr>
            <a:endParaRPr lang="en-IN" dirty="0">
              <a:latin typeface="Times New Roman" panose="02020603050405020304" pitchFamily="18" charset="0"/>
              <a:ea typeface="Verdana" panose="020B0604030504040204" pitchFamily="34" charset="0"/>
              <a:cs typeface="Times New Roman" panose="02020603050405020304" pitchFamily="18" charset="0"/>
            </a:endParaRPr>
          </a:p>
          <a:p>
            <a:pPr marR="0" lvl="0" rtl="0">
              <a:lnSpc>
                <a:spcPct val="100000"/>
              </a:lnSpc>
              <a:spcBef>
                <a:spcPts val="0"/>
              </a:spcBef>
              <a:spcAft>
                <a:spcPts val="0"/>
              </a:spcAft>
            </a:pPr>
            <a:endParaRPr lang="en-IN" dirty="0">
              <a:latin typeface="Times New Roman" panose="02020603050405020304" pitchFamily="18" charset="0"/>
              <a:ea typeface="Verdana" panose="020B0604030504040204" pitchFamily="34" charset="0"/>
              <a:cs typeface="Times New Roman" panose="02020603050405020304" pitchFamily="18" charset="0"/>
            </a:endParaRPr>
          </a:p>
          <a:p>
            <a:pPr marR="0" lvl="0" rtl="0">
              <a:lnSpc>
                <a:spcPct val="100000"/>
              </a:lnSpc>
              <a:spcBef>
                <a:spcPts val="0"/>
              </a:spcBef>
              <a:spcAft>
                <a:spcPts val="0"/>
              </a:spcAft>
            </a:pPr>
            <a:endParaRPr lang="en-IN" dirty="0">
              <a:latin typeface="Times New Roman" panose="02020603050405020304" pitchFamily="18" charset="0"/>
              <a:ea typeface="Verdana" panose="020B0604030504040204" pitchFamily="34" charset="0"/>
              <a:cs typeface="Times New Roman" panose="02020603050405020304" pitchFamily="18" charset="0"/>
            </a:endParaRPr>
          </a:p>
          <a:p>
            <a:pPr marR="0" lvl="0" rtl="0">
              <a:lnSpc>
                <a:spcPct val="100000"/>
              </a:lnSpc>
              <a:spcBef>
                <a:spcPts val="0"/>
              </a:spcBef>
              <a:spcAft>
                <a:spcPts val="0"/>
              </a:spcAft>
            </a:pPr>
            <a:endParaRPr lang="en-IN" dirty="0">
              <a:latin typeface="Times New Roman" panose="02020603050405020304" pitchFamily="18" charset="0"/>
              <a:ea typeface="Verdana" panose="020B0604030504040204" pitchFamily="34" charset="0"/>
              <a:cs typeface="Times New Roman" panose="02020603050405020304" pitchFamily="18" charset="0"/>
            </a:endParaRPr>
          </a:p>
          <a:p>
            <a:pPr marL="285750" marR="0" lvl="0" indent="-285750" rtl="0">
              <a:lnSpc>
                <a:spcPct val="100000"/>
              </a:lnSpc>
              <a:spcBef>
                <a:spcPts val="0"/>
              </a:spcBef>
              <a:spcAft>
                <a:spcPts val="0"/>
              </a:spcAft>
              <a:buFont typeface="Arial" panose="020B0604020202020204" pitchFamily="34" charset="0"/>
              <a:buChar char="•"/>
            </a:pPr>
            <a:r>
              <a:rPr lang="en-IN" dirty="0">
                <a:latin typeface="Times New Roman" panose="02020603050405020304" pitchFamily="18" charset="0"/>
                <a:ea typeface="Verdana" panose="020B0604030504040204" pitchFamily="34" charset="0"/>
                <a:cs typeface="Times New Roman" panose="02020603050405020304" pitchFamily="18" charset="0"/>
              </a:rPr>
              <a:t> </a:t>
            </a:r>
          </a:p>
        </p:txBody>
      </p:sp>
    </p:spTree>
    <p:extLst>
      <p:ext uri="{BB962C8B-B14F-4D97-AF65-F5344CB8AC3E}">
        <p14:creationId xmlns:p14="http://schemas.microsoft.com/office/powerpoint/2010/main" val="2634628188"/>
      </p:ext>
    </p:extLst>
  </p:cSld>
  <p:clrMapOvr>
    <a:masterClrMapping/>
  </p:clrMapOvr>
  <mc:AlternateContent xmlns:mc="http://schemas.openxmlformats.org/markup-compatibility/2006" xmlns:p14="http://schemas.microsoft.com/office/powerpoint/2010/main">
    <mc:Choice Requires="p14">
      <p:transition spd="slow" p14:dur="2000" advTm="82943"/>
    </mc:Choice>
    <mc:Fallback xmlns="">
      <p:transition spd="slow" advTm="82943"/>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6A03D59-1DB0-3799-B231-A48553B34C7A}"/>
              </a:ext>
            </a:extLst>
          </p:cNvPr>
          <p:cNvSpPr txBox="1"/>
          <p:nvPr/>
        </p:nvSpPr>
        <p:spPr>
          <a:xfrm>
            <a:off x="393290" y="432620"/>
            <a:ext cx="10697497" cy="5262979"/>
          </a:xfrm>
          <a:prstGeom prst="rect">
            <a:avLst/>
          </a:prstGeom>
          <a:noFill/>
        </p:spPr>
        <p:txBody>
          <a:bodyPr wrap="square" rtlCol="0">
            <a:spAutoFit/>
          </a:bodyPr>
          <a:lstStyle/>
          <a:p>
            <a:pPr lvl="0"/>
            <a:r>
              <a:rPr lang="en-IN" b="1" dirty="0">
                <a:latin typeface="Times New Roman" panose="02020603050405020304" pitchFamily="18" charset="0"/>
                <a:ea typeface="Verdana" panose="020B0604030504040204" pitchFamily="34" charset="0"/>
                <a:cs typeface="Times New Roman" panose="02020603050405020304" pitchFamily="18" charset="0"/>
              </a:rPr>
              <a:t>References</a:t>
            </a:r>
          </a:p>
          <a:p>
            <a:r>
              <a:rPr lang="de-DE" dirty="0">
                <a:latin typeface="Times New Roman" panose="02020603050405020304" pitchFamily="18" charset="0"/>
                <a:cs typeface="Times New Roman" panose="02020603050405020304" pitchFamily="18" charset="0"/>
              </a:rPr>
              <a:t>[1] Frank Emnett and Mark Biegel ,“</a:t>
            </a:r>
            <a:r>
              <a:rPr lang="en-US" b="1" dirty="0">
                <a:latin typeface="Times New Roman" panose="02020603050405020304" pitchFamily="18" charset="0"/>
                <a:cs typeface="Times New Roman" panose="02020603050405020304" pitchFamily="18" charset="0"/>
                <a:hlinkClick r:id="rId2"/>
              </a:rPr>
              <a:t>Power Reduction Through RTL Clock Gating</a:t>
            </a:r>
            <a:r>
              <a:rPr lang="de-DE" dirty="0">
                <a:latin typeface="Times New Roman" panose="02020603050405020304" pitchFamily="18" charset="0"/>
                <a:cs typeface="Times New Roman" panose="02020603050405020304" pitchFamily="18" charset="0"/>
              </a:rPr>
              <a:t>“ S</a:t>
            </a:r>
            <a:r>
              <a:rPr lang="en-IN" dirty="0">
                <a:latin typeface="Times New Roman" panose="02020603050405020304" pitchFamily="18" charset="0"/>
                <a:cs typeface="Times New Roman" panose="02020603050405020304" pitchFamily="18" charset="0"/>
              </a:rPr>
              <a:t>NUG San Jose 2000</a:t>
            </a:r>
          </a:p>
          <a:p>
            <a:r>
              <a:rPr lang="en-IN" dirty="0">
                <a:latin typeface="Times New Roman" panose="02020603050405020304" pitchFamily="18" charset="0"/>
                <a:ea typeface="Verdana" panose="020B0604030504040204" pitchFamily="34" charset="0"/>
                <a:cs typeface="Times New Roman" panose="02020603050405020304" pitchFamily="18" charset="0"/>
              </a:rPr>
              <a:t>[2] </a:t>
            </a:r>
            <a:r>
              <a:rPr lang="en-IN" dirty="0">
                <a:latin typeface="Times New Roman" panose="02020603050405020304" pitchFamily="18" charset="0"/>
                <a:cs typeface="Times New Roman" panose="02020603050405020304" pitchFamily="18" charset="0"/>
              </a:rPr>
              <a:t>C. Ashok Kumar, B.K. Madhavi, K. Lal Kishore ,</a:t>
            </a:r>
            <a:r>
              <a:rPr lang="en-US" dirty="0">
                <a:latin typeface="Times New Roman" panose="02020603050405020304" pitchFamily="18" charset="0"/>
                <a:cs typeface="Times New Roman" panose="02020603050405020304" pitchFamily="18" charset="0"/>
              </a:rPr>
              <a:t>Journal of Automation, Mobile Robotics and Intelligent Systems “</a:t>
            </a:r>
            <a:r>
              <a:rPr lang="en-IN" b="1" dirty="0">
                <a:latin typeface="Times New Roman" panose="02020603050405020304" pitchFamily="18" charset="0"/>
                <a:ea typeface="Verdana" panose="020B0604030504040204" pitchFamily="34" charset="0"/>
                <a:cs typeface="Times New Roman" panose="02020603050405020304" pitchFamily="18" charset="0"/>
                <a:hlinkClick r:id="rId3"/>
              </a:rPr>
              <a:t>Enhanced clock gating technique for power optimization in SRAM and Sequential circuit</a:t>
            </a:r>
            <a:r>
              <a:rPr lang="en-US" dirty="0">
                <a:latin typeface="Times New Roman" panose="02020603050405020304" pitchFamily="18" charset="0"/>
                <a:cs typeface="Times New Roman" panose="02020603050405020304" pitchFamily="18" charset="0"/>
                <a:hlinkClick r:id="rId3"/>
              </a:rPr>
              <a:t>”</a:t>
            </a:r>
            <a:r>
              <a:rPr lang="en-US"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1th October 2021</a:t>
            </a:r>
            <a:endParaRPr lang="en-IN" dirty="0">
              <a:latin typeface="Times New Roman" panose="02020603050405020304" pitchFamily="18" charset="0"/>
              <a:ea typeface="Verdana" panose="020B0604030504040204" pitchFamily="34" charset="0"/>
              <a:cs typeface="Times New Roman" panose="02020603050405020304" pitchFamily="18" charset="0"/>
            </a:endParaRPr>
          </a:p>
          <a:p>
            <a:r>
              <a:rPr lang="en-IN" dirty="0">
                <a:latin typeface="Times New Roman" panose="02020603050405020304" pitchFamily="18" charset="0"/>
                <a:ea typeface="Verdana" panose="020B0604030504040204" pitchFamily="34" charset="0"/>
                <a:cs typeface="Times New Roman" panose="02020603050405020304" pitchFamily="18" charset="0"/>
              </a:rPr>
              <a:t>[3]</a:t>
            </a:r>
            <a:r>
              <a:rPr lang="en-IN" dirty="0">
                <a:latin typeface="Times New Roman" panose="02020603050405020304" pitchFamily="18" charset="0"/>
                <a:cs typeface="Times New Roman" panose="02020603050405020304" pitchFamily="18" charset="0"/>
              </a:rPr>
              <a:t> 1SHREYA MAOLANKER, 2SWAPNIL BORPE, 3BHAGYASHREE KALMEGH, 4NIKHIL PARKHI, 5SAURABH GIRATKAR , “</a:t>
            </a:r>
            <a:r>
              <a:rPr lang="en-IN" b="1" dirty="0">
                <a:latin typeface="Times New Roman" panose="02020603050405020304" pitchFamily="18" charset="0"/>
                <a:ea typeface="Verdana" panose="020B0604030504040204" pitchFamily="34" charset="0"/>
                <a:cs typeface="Times New Roman" panose="02020603050405020304" pitchFamily="18" charset="0"/>
                <a:hlinkClick r:id="rId4"/>
              </a:rPr>
              <a:t>Implementation of adaptive clock gating technique for Low power circuits – A Review</a:t>
            </a:r>
            <a:r>
              <a:rPr lang="en-IN"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International Journal of Electrical, Electronics and Data Communication, ISSN: 2320-2084 </a:t>
            </a:r>
          </a:p>
          <a:p>
            <a:r>
              <a:rPr lang="en-US" dirty="0">
                <a:latin typeface="Times New Roman" panose="02020603050405020304" pitchFamily="18" charset="0"/>
                <a:cs typeface="Times New Roman" panose="02020603050405020304" pitchFamily="18" charset="0"/>
              </a:rPr>
              <a:t>[4]H. Vo, "</a:t>
            </a:r>
            <a:r>
              <a:rPr lang="en-US" dirty="0">
                <a:latin typeface="Times New Roman" panose="02020603050405020304" pitchFamily="18" charset="0"/>
                <a:cs typeface="Times New Roman" panose="02020603050405020304" pitchFamily="18" charset="0"/>
                <a:hlinkClick r:id="rId5"/>
              </a:rPr>
              <a:t>The Merged Clock Gating Architecture For Low Power Digital Clock Application On FPGA</a:t>
            </a:r>
            <a:r>
              <a:rPr lang="en-US" dirty="0">
                <a:latin typeface="Times New Roman" panose="02020603050405020304" pitchFamily="18" charset="0"/>
                <a:cs typeface="Times New Roman" panose="02020603050405020304" pitchFamily="18" charset="0"/>
              </a:rPr>
              <a:t>," 2018 International Conference on Advanced Technologies for Communications (ATC), Ho Chi Minh City, Vietnam, 2018, pp. 282-286, </a:t>
            </a:r>
            <a:r>
              <a:rPr lang="en-US" dirty="0" err="1">
                <a:latin typeface="Times New Roman" panose="02020603050405020304" pitchFamily="18" charset="0"/>
                <a:cs typeface="Times New Roman" panose="02020603050405020304" pitchFamily="18" charset="0"/>
              </a:rPr>
              <a:t>doi</a:t>
            </a:r>
            <a:r>
              <a:rPr lang="en-US" dirty="0">
                <a:latin typeface="Times New Roman" panose="02020603050405020304" pitchFamily="18" charset="0"/>
                <a:cs typeface="Times New Roman" panose="02020603050405020304" pitchFamily="18" charset="0"/>
              </a:rPr>
              <a:t>: 10.1109/ATC.2018.8587596.</a:t>
            </a:r>
          </a:p>
          <a:p>
            <a:r>
              <a:rPr lang="en-IN" dirty="0">
                <a:latin typeface="Times New Roman" panose="02020603050405020304" pitchFamily="18" charset="0"/>
                <a:cs typeface="Times New Roman" panose="02020603050405020304" pitchFamily="18" charset="0"/>
              </a:rPr>
              <a:t>[5]M. Cho, B. Gill, R. Sharma and S. Gupta, "</a:t>
            </a:r>
            <a:r>
              <a:rPr lang="en-IN" dirty="0">
                <a:latin typeface="Times New Roman" panose="02020603050405020304" pitchFamily="18" charset="0"/>
                <a:cs typeface="Times New Roman" panose="02020603050405020304" pitchFamily="18" charset="0"/>
                <a:hlinkClick r:id="rId6"/>
              </a:rPr>
              <a:t>Adaptive Clock Gating for Improving Wear out induced Duty Cycle Shift in the Clock Network</a:t>
            </a:r>
            <a:r>
              <a:rPr lang="en-IN" dirty="0">
                <a:latin typeface="Times New Roman" panose="02020603050405020304" pitchFamily="18" charset="0"/>
                <a:cs typeface="Times New Roman" panose="02020603050405020304" pitchFamily="18" charset="0"/>
              </a:rPr>
              <a:t>," </a:t>
            </a:r>
            <a:r>
              <a:rPr lang="en-IN" i="1" dirty="0">
                <a:latin typeface="Times New Roman" panose="02020603050405020304" pitchFamily="18" charset="0"/>
                <a:cs typeface="Times New Roman" panose="02020603050405020304" pitchFamily="18" charset="0"/>
              </a:rPr>
              <a:t>2024 IEEE International Reliability Physics Symposium (IRPS)</a:t>
            </a:r>
            <a:r>
              <a:rPr lang="en-IN" dirty="0">
                <a:latin typeface="Times New Roman" panose="02020603050405020304" pitchFamily="18" charset="0"/>
                <a:cs typeface="Times New Roman" panose="02020603050405020304" pitchFamily="18" charset="0"/>
              </a:rPr>
              <a:t>, Grapevine, TX, USA, 2024, pp. 1-4, </a:t>
            </a:r>
            <a:r>
              <a:rPr lang="en-IN" dirty="0" err="1">
                <a:latin typeface="Times New Roman" panose="02020603050405020304" pitchFamily="18" charset="0"/>
                <a:cs typeface="Times New Roman" panose="02020603050405020304" pitchFamily="18" charset="0"/>
              </a:rPr>
              <a:t>doi</a:t>
            </a:r>
            <a:r>
              <a:rPr lang="en-IN" dirty="0">
                <a:latin typeface="Times New Roman" panose="02020603050405020304" pitchFamily="18" charset="0"/>
                <a:cs typeface="Times New Roman" panose="02020603050405020304" pitchFamily="18" charset="0"/>
              </a:rPr>
              <a:t>: 10.1109/IRPS48228.2024.10529398.</a:t>
            </a:r>
          </a:p>
          <a:p>
            <a:r>
              <a:rPr lang="en-IN" dirty="0">
                <a:latin typeface="Times New Roman" panose="02020603050405020304" pitchFamily="18" charset="0"/>
                <a:cs typeface="Times New Roman" panose="02020603050405020304" pitchFamily="18" charset="0"/>
              </a:rPr>
              <a:t>[6]J. Shinde and S. S. </a:t>
            </a:r>
            <a:r>
              <a:rPr lang="en-IN" dirty="0" err="1">
                <a:latin typeface="Times New Roman" panose="02020603050405020304" pitchFamily="18" charset="0"/>
                <a:cs typeface="Times New Roman" panose="02020603050405020304" pitchFamily="18" charset="0"/>
              </a:rPr>
              <a:t>Salankar</a:t>
            </a:r>
            <a:r>
              <a:rPr lang="en-IN"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hlinkClick r:id="rId7"/>
              </a:rPr>
              <a:t>Clock gating — A power optimizing technique for VLSI circuits</a:t>
            </a:r>
            <a:r>
              <a:rPr lang="en-IN" dirty="0">
                <a:latin typeface="Times New Roman" panose="02020603050405020304" pitchFamily="18" charset="0"/>
                <a:cs typeface="Times New Roman" panose="02020603050405020304" pitchFamily="18" charset="0"/>
              </a:rPr>
              <a:t>," 2011 Annual IEEE India Conference, Hyderabad, India, 2011, pp. 1-4, </a:t>
            </a:r>
            <a:r>
              <a:rPr lang="en-IN" dirty="0" err="1">
                <a:latin typeface="Times New Roman" panose="02020603050405020304" pitchFamily="18" charset="0"/>
                <a:cs typeface="Times New Roman" panose="02020603050405020304" pitchFamily="18" charset="0"/>
              </a:rPr>
              <a:t>doi</a:t>
            </a:r>
            <a:r>
              <a:rPr lang="en-IN" dirty="0">
                <a:latin typeface="Times New Roman" panose="02020603050405020304" pitchFamily="18" charset="0"/>
                <a:cs typeface="Times New Roman" panose="02020603050405020304" pitchFamily="18" charset="0"/>
              </a:rPr>
              <a:t>: 10.1109/INDCON.2011.6139440. </a:t>
            </a:r>
          </a:p>
          <a:p>
            <a:r>
              <a:rPr lang="en-IN" dirty="0">
                <a:latin typeface="Times New Roman" panose="02020603050405020304" pitchFamily="18" charset="0"/>
                <a:cs typeface="Times New Roman" panose="02020603050405020304" pitchFamily="18" charset="0"/>
              </a:rPr>
              <a:t>[7] T. Chindhu S. and N. Shanmugasundaram, "</a:t>
            </a:r>
            <a:r>
              <a:rPr lang="en-IN" dirty="0">
                <a:latin typeface="Times New Roman" panose="02020603050405020304" pitchFamily="18" charset="0"/>
                <a:cs typeface="Times New Roman" panose="02020603050405020304" pitchFamily="18" charset="0"/>
                <a:hlinkClick r:id="rId8"/>
              </a:rPr>
              <a:t>Clock Gating Techniques: An Overview</a:t>
            </a:r>
            <a:r>
              <a:rPr lang="en-IN" dirty="0">
                <a:latin typeface="Times New Roman" panose="02020603050405020304" pitchFamily="18" charset="0"/>
                <a:cs typeface="Times New Roman" panose="02020603050405020304" pitchFamily="18" charset="0"/>
              </a:rPr>
              <a:t>," 2018 Conference on Emerging Devices and Smart Systems (ICEDSS), </a:t>
            </a:r>
            <a:r>
              <a:rPr lang="en-IN" dirty="0" err="1">
                <a:latin typeface="Times New Roman" panose="02020603050405020304" pitchFamily="18" charset="0"/>
                <a:cs typeface="Times New Roman" panose="02020603050405020304" pitchFamily="18" charset="0"/>
              </a:rPr>
              <a:t>Tiruchengode</a:t>
            </a:r>
            <a:r>
              <a:rPr lang="en-IN" dirty="0">
                <a:latin typeface="Times New Roman" panose="02020603050405020304" pitchFamily="18" charset="0"/>
                <a:cs typeface="Times New Roman" panose="02020603050405020304" pitchFamily="18" charset="0"/>
              </a:rPr>
              <a:t>, India, 2018, pp. 217-221, </a:t>
            </a:r>
            <a:r>
              <a:rPr lang="en-IN" dirty="0" err="1">
                <a:latin typeface="Times New Roman" panose="02020603050405020304" pitchFamily="18" charset="0"/>
                <a:cs typeface="Times New Roman" panose="02020603050405020304" pitchFamily="18" charset="0"/>
              </a:rPr>
              <a:t>doi</a:t>
            </a:r>
            <a:r>
              <a:rPr lang="en-IN" dirty="0">
                <a:latin typeface="Times New Roman" panose="02020603050405020304" pitchFamily="18" charset="0"/>
                <a:cs typeface="Times New Roman" panose="02020603050405020304" pitchFamily="18" charset="0"/>
              </a:rPr>
              <a:t>: 10.1109/ICEDSS.2018.8544281.</a:t>
            </a:r>
          </a:p>
          <a:p>
            <a:r>
              <a:rPr lang="en-IN" dirty="0">
                <a:latin typeface="Times New Roman" panose="02020603050405020304" pitchFamily="18" charset="0"/>
                <a:cs typeface="Times New Roman" panose="02020603050405020304" pitchFamily="18" charset="0"/>
              </a:rPr>
              <a:t>[8] S. Panda, S. Sharma and A. R. </a:t>
            </a:r>
            <a:r>
              <a:rPr lang="en-IN" dirty="0" err="1">
                <a:latin typeface="Times New Roman" panose="02020603050405020304" pitchFamily="18" charset="0"/>
                <a:cs typeface="Times New Roman" panose="02020603050405020304" pitchFamily="18" charset="0"/>
              </a:rPr>
              <a:t>Asati</a:t>
            </a:r>
            <a:r>
              <a:rPr lang="en-IN"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hlinkClick r:id="rId6"/>
              </a:rPr>
              <a:t>Clock Gating Analysis of TG Based D Flip-Flop for Different Technology Nodes</a:t>
            </a:r>
            <a:r>
              <a:rPr lang="en-IN" dirty="0">
                <a:latin typeface="Times New Roman" panose="02020603050405020304" pitchFamily="18" charset="0"/>
                <a:cs typeface="Times New Roman" panose="02020603050405020304" pitchFamily="18" charset="0"/>
              </a:rPr>
              <a:t>," 2020 IEEE 7th Uttar Pradesh Section International Conference on Electrical, Electronics and Computer Engineering (UPCON), Prayagraj, India, 2020, pp. 1-6, </a:t>
            </a:r>
            <a:r>
              <a:rPr lang="en-IN" dirty="0" err="1">
                <a:latin typeface="Times New Roman" panose="02020603050405020304" pitchFamily="18" charset="0"/>
                <a:cs typeface="Times New Roman" panose="02020603050405020304" pitchFamily="18" charset="0"/>
              </a:rPr>
              <a:t>doi</a:t>
            </a:r>
            <a:r>
              <a:rPr lang="en-IN" dirty="0">
                <a:latin typeface="Times New Roman" panose="02020603050405020304" pitchFamily="18" charset="0"/>
                <a:cs typeface="Times New Roman" panose="02020603050405020304" pitchFamily="18" charset="0"/>
              </a:rPr>
              <a:t>: 10.1109/UPCON50219.2020.9376565. </a:t>
            </a:r>
          </a:p>
          <a:p>
            <a:r>
              <a:rPr lang="en-IN" dirty="0">
                <a:latin typeface="Times New Roman" panose="02020603050405020304" pitchFamily="18" charset="0"/>
                <a:cs typeface="Times New Roman" panose="02020603050405020304" pitchFamily="18" charset="0"/>
              </a:rPr>
              <a:t>[9] G. S. R. </a:t>
            </a:r>
            <a:r>
              <a:rPr lang="en-IN" dirty="0" err="1">
                <a:latin typeface="Times New Roman" panose="02020603050405020304" pitchFamily="18" charset="0"/>
                <a:cs typeface="Times New Roman" panose="02020603050405020304" pitchFamily="18" charset="0"/>
              </a:rPr>
              <a:t>Srivatsava</a:t>
            </a:r>
            <a:r>
              <a:rPr lang="en-IN" dirty="0">
                <a:latin typeface="Times New Roman" panose="02020603050405020304" pitchFamily="18" charset="0"/>
                <a:cs typeface="Times New Roman" panose="02020603050405020304" pitchFamily="18" charset="0"/>
              </a:rPr>
              <a:t>, P. Singh, S. </a:t>
            </a:r>
            <a:r>
              <a:rPr lang="en-IN" dirty="0" err="1">
                <a:latin typeface="Times New Roman" panose="02020603050405020304" pitchFamily="18" charset="0"/>
                <a:cs typeface="Times New Roman" panose="02020603050405020304" pitchFamily="18" charset="0"/>
              </a:rPr>
              <a:t>Gaggar</a:t>
            </a:r>
            <a:r>
              <a:rPr lang="en-IN" dirty="0">
                <a:latin typeface="Times New Roman" panose="02020603050405020304" pitchFamily="18" charset="0"/>
                <a:cs typeface="Times New Roman" panose="02020603050405020304" pitchFamily="18" charset="0"/>
              </a:rPr>
              <a:t> and S. K. Vishvakarma, "</a:t>
            </a:r>
            <a:r>
              <a:rPr lang="en-IN" dirty="0">
                <a:latin typeface="Times New Roman" panose="02020603050405020304" pitchFamily="18" charset="0"/>
                <a:cs typeface="Times New Roman" panose="02020603050405020304" pitchFamily="18" charset="0"/>
                <a:hlinkClick r:id="rId9"/>
              </a:rPr>
              <a:t>Dynamic power reduction through clock gating technique for low power memory applications,</a:t>
            </a:r>
            <a:r>
              <a:rPr lang="en-IN" dirty="0">
                <a:latin typeface="Times New Roman" panose="02020603050405020304" pitchFamily="18" charset="0"/>
                <a:cs typeface="Times New Roman" panose="02020603050405020304" pitchFamily="18" charset="0"/>
              </a:rPr>
              <a:t>" 2015 IEEE International Conference on Electrical, Computer and Communication Technologies (ICECCT), Coimbatore, India, 2015, pp. 1-6, </a:t>
            </a:r>
            <a:r>
              <a:rPr lang="en-IN" dirty="0" err="1">
                <a:latin typeface="Times New Roman" panose="02020603050405020304" pitchFamily="18" charset="0"/>
                <a:cs typeface="Times New Roman" panose="02020603050405020304" pitchFamily="18" charset="0"/>
              </a:rPr>
              <a:t>doi</a:t>
            </a:r>
            <a:r>
              <a:rPr lang="en-IN" dirty="0">
                <a:latin typeface="Times New Roman" panose="02020603050405020304" pitchFamily="18" charset="0"/>
                <a:cs typeface="Times New Roman" panose="02020603050405020304" pitchFamily="18" charset="0"/>
              </a:rPr>
              <a:t>: 10.1109/ICECCT.2015.7226204. </a:t>
            </a:r>
          </a:p>
          <a:p>
            <a:endParaRPr lang="en-IN" dirty="0">
              <a:latin typeface="Times New Roman" panose="02020603050405020304" pitchFamily="18" charset="0"/>
              <a:ea typeface="Verdana" panose="020B060403050404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27420811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7BA069E-10EC-7BCB-7E74-99368248DB0C}"/>
              </a:ext>
            </a:extLst>
          </p:cNvPr>
          <p:cNvSpPr txBox="1"/>
          <p:nvPr/>
        </p:nvSpPr>
        <p:spPr>
          <a:xfrm>
            <a:off x="477520" y="335280"/>
            <a:ext cx="11236960" cy="2462213"/>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[10] K. V. S. S. Aditya, B. B. </a:t>
            </a:r>
            <a:r>
              <a:rPr lang="en-IN" dirty="0" err="1">
                <a:latin typeface="Times New Roman" panose="02020603050405020304" pitchFamily="18" charset="0"/>
                <a:cs typeface="Times New Roman" panose="02020603050405020304" pitchFamily="18" charset="0"/>
              </a:rPr>
              <a:t>Kotaru</a:t>
            </a:r>
            <a:r>
              <a:rPr lang="en-IN" dirty="0">
                <a:latin typeface="Times New Roman" panose="02020603050405020304" pitchFamily="18" charset="0"/>
                <a:cs typeface="Times New Roman" panose="02020603050405020304" pitchFamily="18" charset="0"/>
              </a:rPr>
              <a:t> and B. B. Naik, "</a:t>
            </a:r>
            <a:r>
              <a:rPr lang="en-IN" dirty="0">
                <a:latin typeface="Times New Roman" panose="02020603050405020304" pitchFamily="18" charset="0"/>
                <a:cs typeface="Times New Roman" panose="02020603050405020304" pitchFamily="18" charset="0"/>
                <a:hlinkClick r:id="rId2"/>
              </a:rPr>
              <a:t>Design of low power shift register using activity-driven optimized clock gating and run-time power gating</a:t>
            </a:r>
            <a:r>
              <a:rPr lang="en-IN" dirty="0">
                <a:latin typeface="Times New Roman" panose="02020603050405020304" pitchFamily="18" charset="0"/>
                <a:cs typeface="Times New Roman" panose="02020603050405020304" pitchFamily="18" charset="0"/>
              </a:rPr>
              <a:t>," 2014 International Conference on Green Computing Communication and Electrical Engineering (ICGCCEE), Coimbatore, India, 2014, pp. 1-7, doi: 10.1109/ICGCCEE.2014.6922241. </a:t>
            </a:r>
          </a:p>
          <a:p>
            <a:r>
              <a:rPr lang="en-IN" dirty="0">
                <a:latin typeface="Times New Roman" panose="02020603050405020304" pitchFamily="18" charset="0"/>
                <a:cs typeface="Times New Roman" panose="02020603050405020304" pitchFamily="18" charset="0"/>
              </a:rPr>
              <a:t>[11] B. P. S. Tomar, V. Chaurasia, J. Yadav and B. Pandey, </a:t>
            </a:r>
            <a:r>
              <a:rPr lang="en-IN" dirty="0">
                <a:latin typeface="Times New Roman" panose="02020603050405020304" pitchFamily="18" charset="0"/>
                <a:cs typeface="Times New Roman" panose="02020603050405020304" pitchFamily="18" charset="0"/>
                <a:hlinkClick r:id="rId3"/>
              </a:rPr>
              <a:t>"Power Reduction of ITC'99-b01 Benchmark Circuit Using Clock Gating Technique,"</a:t>
            </a:r>
            <a:r>
              <a:rPr lang="en-IN" dirty="0">
                <a:latin typeface="Times New Roman" panose="02020603050405020304" pitchFamily="18" charset="0"/>
                <a:cs typeface="Times New Roman" panose="02020603050405020304" pitchFamily="18" charset="0"/>
              </a:rPr>
              <a:t> 2013 5th International Conference and Computational Intelligence and Communication Networks, Mathura, India, 2013, pp. 423-427, doi: 10.1109/CICN.2013.93.</a:t>
            </a:r>
          </a:p>
          <a:p>
            <a:r>
              <a:rPr lang="en-IN" dirty="0">
                <a:latin typeface="Times New Roman" panose="02020603050405020304" pitchFamily="18" charset="0"/>
                <a:cs typeface="Times New Roman" panose="02020603050405020304" pitchFamily="18" charset="0"/>
              </a:rPr>
              <a:t>[12] S. Gupta and M. Vinodhini, "</a:t>
            </a:r>
            <a:r>
              <a:rPr lang="en-IN" dirty="0">
                <a:latin typeface="Times New Roman" panose="02020603050405020304" pitchFamily="18" charset="0"/>
                <a:cs typeface="Times New Roman" panose="02020603050405020304" pitchFamily="18" charset="0"/>
                <a:hlinkClick r:id="rId4"/>
              </a:rPr>
              <a:t>Low-Power Linear Feedback Shift Register Using TSPC Flip-Flop and Clock Gating," </a:t>
            </a:r>
            <a:r>
              <a:rPr lang="en-IN" dirty="0">
                <a:latin typeface="Times New Roman" panose="02020603050405020304" pitchFamily="18" charset="0"/>
                <a:cs typeface="Times New Roman" panose="02020603050405020304" pitchFamily="18" charset="0"/>
              </a:rPr>
              <a:t>2025 Fifth International Conference on Advances in Electrical, Computing, Communication and Sustainable Technologies (ICAECT), </a:t>
            </a:r>
            <a:r>
              <a:rPr lang="en-IN" dirty="0" err="1">
                <a:latin typeface="Times New Roman" panose="02020603050405020304" pitchFamily="18" charset="0"/>
                <a:cs typeface="Times New Roman" panose="02020603050405020304" pitchFamily="18" charset="0"/>
              </a:rPr>
              <a:t>Bhilai</a:t>
            </a:r>
            <a:r>
              <a:rPr lang="en-IN" dirty="0">
                <a:latin typeface="Times New Roman" panose="02020603050405020304" pitchFamily="18" charset="0"/>
                <a:cs typeface="Times New Roman" panose="02020603050405020304" pitchFamily="18" charset="0"/>
              </a:rPr>
              <a:t>, India, 2025, pp. 1-5, doi: 10.1109/ICAECT63952.2025.10958909.</a:t>
            </a:r>
          </a:p>
          <a:p>
            <a:r>
              <a:rPr lang="en-IN" dirty="0">
                <a:latin typeface="Times New Roman" panose="02020603050405020304" pitchFamily="18" charset="0"/>
                <a:cs typeface="Times New Roman" panose="02020603050405020304" pitchFamily="18" charset="0"/>
              </a:rPr>
              <a:t>[13] J. R, M. M, G. D. B and M. A. H, "</a:t>
            </a:r>
            <a:r>
              <a:rPr lang="en-IN" dirty="0">
                <a:latin typeface="Times New Roman" panose="02020603050405020304" pitchFamily="18" charset="0"/>
                <a:cs typeface="Times New Roman" panose="02020603050405020304" pitchFamily="18" charset="0"/>
                <a:hlinkClick r:id="rId5"/>
              </a:rPr>
              <a:t>Optimized Design of Clock-Gated D Flip-Flop using Transmission Gate,</a:t>
            </a:r>
            <a:r>
              <a:rPr lang="en-IN" dirty="0">
                <a:latin typeface="Times New Roman" panose="02020603050405020304" pitchFamily="18" charset="0"/>
                <a:cs typeface="Times New Roman" panose="02020603050405020304" pitchFamily="18" charset="0"/>
              </a:rPr>
              <a:t>" 2025 Third International Conference on Augmented Intelligence and Sustainable Systems (ICAISS), Trichy, India, 2025, pp. 911-916, doi: 10.1109/ICAISS61471.2025.11042123.</a:t>
            </a:r>
          </a:p>
        </p:txBody>
      </p:sp>
    </p:spTree>
    <p:extLst>
      <p:ext uri="{BB962C8B-B14F-4D97-AF65-F5344CB8AC3E}">
        <p14:creationId xmlns:p14="http://schemas.microsoft.com/office/powerpoint/2010/main" val="1590909502"/>
      </p:ext>
    </p:extLst>
  </p:cSld>
  <p:clrMapOvr>
    <a:masterClrMapping/>
  </p:clrMapOvr>
  <mc:AlternateContent xmlns:mc="http://schemas.openxmlformats.org/markup-compatibility/2006" xmlns:p14="http://schemas.microsoft.com/office/powerpoint/2010/main">
    <mc:Choice Requires="p14">
      <p:transition spd="slow" p14:dur="2000" advTm="8384"/>
    </mc:Choice>
    <mc:Fallback xmlns="">
      <p:transition spd="slow" advTm="8384"/>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0F53F8-9556-4270-5B9D-9550237E944E}"/>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1CCA8DE1-C914-AC92-41A9-F53CE64505D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latin typeface="Times New Roman" panose="02020603050405020304" pitchFamily="18" charset="0"/>
                <a:cs typeface="Times New Roman" panose="02020603050405020304" pitchFamily="18" charset="0"/>
              </a:rPr>
              <a:t>8</a:t>
            </a:fld>
            <a:endParaRPr lang="en-US" dirty="0">
              <a:latin typeface="Times New Roman" panose="02020603050405020304" pitchFamily="18" charset="0"/>
              <a:cs typeface="Times New Roman" panose="02020603050405020304" pitchFamily="18" charset="0"/>
            </a:endParaRPr>
          </a:p>
        </p:txBody>
      </p:sp>
      <p:sp>
        <p:nvSpPr>
          <p:cNvPr id="4" name="Google Shape;125;p3">
            <a:extLst>
              <a:ext uri="{FF2B5EF4-FFF2-40B4-BE49-F238E27FC236}">
                <a16:creationId xmlns:a16="http://schemas.microsoft.com/office/drawing/2014/main" id="{DB20A693-DAF6-90F8-E452-0AF12BA5AC45}"/>
              </a:ext>
            </a:extLst>
          </p:cNvPr>
          <p:cNvSpPr txBox="1"/>
          <p:nvPr/>
        </p:nvSpPr>
        <p:spPr>
          <a:xfrm>
            <a:off x="1000124" y="232275"/>
            <a:ext cx="10515600" cy="493857"/>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None/>
            </a:pPr>
            <a:r>
              <a:rPr lang="en-US" sz="2400" b="1" dirty="0">
                <a:latin typeface="Times New Roman" panose="02020603050405020304" pitchFamily="18" charset="0"/>
                <a:cs typeface="Times New Roman" panose="02020603050405020304" pitchFamily="18" charset="0"/>
                <a:sym typeface="Montserrat"/>
              </a:rPr>
              <a:t>Architecture  </a:t>
            </a:r>
            <a:endParaRPr dirty="0">
              <a:latin typeface="Times New Roman" panose="02020603050405020304" pitchFamily="18" charset="0"/>
              <a:cs typeface="Times New Roman" panose="02020603050405020304" pitchFamily="18" charset="0"/>
            </a:endParaRPr>
          </a:p>
        </p:txBody>
      </p:sp>
      <p:sp>
        <p:nvSpPr>
          <p:cNvPr id="5" name="Google Shape;125;p3">
            <a:extLst>
              <a:ext uri="{FF2B5EF4-FFF2-40B4-BE49-F238E27FC236}">
                <a16:creationId xmlns:a16="http://schemas.microsoft.com/office/drawing/2014/main" id="{11DCD2FE-F6D8-3416-49EA-CE0660F5B1E7}"/>
              </a:ext>
            </a:extLst>
          </p:cNvPr>
          <p:cNvSpPr txBox="1"/>
          <p:nvPr/>
        </p:nvSpPr>
        <p:spPr>
          <a:xfrm>
            <a:off x="452284" y="788096"/>
            <a:ext cx="5761704" cy="5735761"/>
          </a:xfrm>
          <a:prstGeom prst="rect">
            <a:avLst/>
          </a:prstGeom>
          <a:noFill/>
          <a:ln>
            <a:noFill/>
          </a:ln>
        </p:spPr>
        <p:txBody>
          <a:bodyPr spcFirstLastPara="1" wrap="square" lIns="91425" tIns="45700" rIns="91425" bIns="45700" anchor="t" anchorCtr="0">
            <a:noAutofit/>
          </a:bodyPr>
          <a:lstStyle/>
          <a:p>
            <a:pPr marL="0" marR="0" lvl="0" indent="0" rtl="0">
              <a:lnSpc>
                <a:spcPct val="100000"/>
              </a:lnSpc>
              <a:spcBef>
                <a:spcPts val="0"/>
              </a:spcBef>
              <a:spcAft>
                <a:spcPts val="0"/>
              </a:spcAft>
              <a:buNone/>
            </a:pPr>
            <a:r>
              <a:rPr lang="en-IN" b="1" dirty="0">
                <a:latin typeface="Times New Roman" panose="02020603050405020304" pitchFamily="18" charset="0"/>
                <a:ea typeface="Verdana" panose="020B0604030504040204" pitchFamily="34" charset="0"/>
                <a:cs typeface="Times New Roman" panose="02020603050405020304" pitchFamily="18" charset="0"/>
              </a:rPr>
              <a:t>Structural Diagram</a:t>
            </a:r>
          </a:p>
          <a:p>
            <a:pPr marL="0" marR="0" lvl="0" indent="0" rtl="0">
              <a:lnSpc>
                <a:spcPct val="100000"/>
              </a:lnSpc>
              <a:spcBef>
                <a:spcPts val="0"/>
              </a:spcBef>
              <a:spcAft>
                <a:spcPts val="0"/>
              </a:spcAft>
              <a:buNone/>
            </a:pPr>
            <a:r>
              <a:rPr lang="en-IN" sz="1200" dirty="0">
                <a:latin typeface="Times New Roman" panose="02020603050405020304" pitchFamily="18" charset="0"/>
                <a:ea typeface="Verdana" panose="020B0604030504040204" pitchFamily="34" charset="0"/>
                <a:cs typeface="Times New Roman" panose="02020603050405020304" pitchFamily="18" charset="0"/>
              </a:rPr>
              <a:t>Block Diagram</a:t>
            </a:r>
            <a:endParaRPr lang="en-IN" dirty="0">
              <a:latin typeface="Times New Roman" panose="02020603050405020304" pitchFamily="18" charset="0"/>
              <a:ea typeface="Verdana" panose="020B0604030504040204" pitchFamily="34" charset="0"/>
              <a:cs typeface="Times New Roman" panose="02020603050405020304" pitchFamily="18" charset="0"/>
            </a:endParaRPr>
          </a:p>
        </p:txBody>
      </p:sp>
      <p:sp>
        <p:nvSpPr>
          <p:cNvPr id="2" name="Google Shape;125;p3">
            <a:extLst>
              <a:ext uri="{FF2B5EF4-FFF2-40B4-BE49-F238E27FC236}">
                <a16:creationId xmlns:a16="http://schemas.microsoft.com/office/drawing/2014/main" id="{7B3FE64C-ED43-A052-11E8-812792B8FDDF}"/>
              </a:ext>
            </a:extLst>
          </p:cNvPr>
          <p:cNvSpPr txBox="1"/>
          <p:nvPr/>
        </p:nvSpPr>
        <p:spPr>
          <a:xfrm>
            <a:off x="6213988" y="757114"/>
            <a:ext cx="5761704" cy="5735761"/>
          </a:xfrm>
          <a:prstGeom prst="rect">
            <a:avLst/>
          </a:prstGeom>
          <a:noFill/>
          <a:ln>
            <a:noFill/>
          </a:ln>
        </p:spPr>
        <p:txBody>
          <a:bodyPr spcFirstLastPara="1" wrap="square" lIns="91425" tIns="45700" rIns="91425" bIns="45700" anchor="t" anchorCtr="0">
            <a:noAutofit/>
          </a:bodyPr>
          <a:lstStyle/>
          <a:p>
            <a:pPr marL="0" marR="0" lvl="0" indent="0" rtl="0">
              <a:lnSpc>
                <a:spcPct val="100000"/>
              </a:lnSpc>
              <a:spcBef>
                <a:spcPts val="0"/>
              </a:spcBef>
              <a:spcAft>
                <a:spcPts val="0"/>
              </a:spcAft>
              <a:buNone/>
            </a:pPr>
            <a:r>
              <a:rPr lang="en-IN" b="1" dirty="0">
                <a:latin typeface="Times New Roman" panose="02020603050405020304" pitchFamily="18" charset="0"/>
                <a:ea typeface="Verdana" panose="020B0604030504040204" pitchFamily="34" charset="0"/>
                <a:cs typeface="Times New Roman" panose="02020603050405020304" pitchFamily="18" charset="0"/>
              </a:rPr>
              <a:t>Behaviour Diagram</a:t>
            </a:r>
          </a:p>
          <a:p>
            <a:pPr marL="0" marR="0" lvl="0" indent="0" rtl="0">
              <a:lnSpc>
                <a:spcPct val="100000"/>
              </a:lnSpc>
              <a:spcBef>
                <a:spcPts val="0"/>
              </a:spcBef>
              <a:spcAft>
                <a:spcPts val="0"/>
              </a:spcAft>
              <a:buNone/>
            </a:pPr>
            <a:r>
              <a:rPr lang="en-IN" sz="1200" dirty="0">
                <a:latin typeface="Times New Roman" panose="02020603050405020304" pitchFamily="18" charset="0"/>
                <a:ea typeface="Verdana" panose="020B0604030504040204" pitchFamily="34" charset="0"/>
                <a:cs typeface="Times New Roman" panose="02020603050405020304" pitchFamily="18" charset="0"/>
              </a:rPr>
              <a:t>Flow chart/ State machine</a:t>
            </a:r>
          </a:p>
          <a:p>
            <a:r>
              <a:rPr lang="en-IN" sz="1200" dirty="0">
                <a:latin typeface="Times New Roman" panose="02020603050405020304" pitchFamily="18" charset="0"/>
                <a:ea typeface="Verdana" panose="020B0604030504040204" pitchFamily="34" charset="0"/>
                <a:cs typeface="Times New Roman" panose="02020603050405020304" pitchFamily="18" charset="0"/>
              </a:rPr>
              <a:t>Resource - </a:t>
            </a:r>
            <a:r>
              <a:rPr lang="en-IN" sz="1200" dirty="0">
                <a:latin typeface="Times New Roman" panose="02020603050405020304" pitchFamily="18" charset="0"/>
                <a:ea typeface="Verdana" panose="020B0604030504040204" pitchFamily="34" charset="0"/>
                <a:cs typeface="Times New Roman" panose="02020603050405020304" pitchFamily="18" charset="0"/>
                <a:hlinkClick r:id="rId2"/>
              </a:rPr>
              <a:t>https://www.lucidchart.com/pages/examples/uml_diagram_tool</a:t>
            </a:r>
            <a:r>
              <a:rPr lang="en-IN" sz="1200" dirty="0">
                <a:latin typeface="Times New Roman" panose="02020603050405020304" pitchFamily="18" charset="0"/>
                <a:ea typeface="Verdana" panose="020B0604030504040204" pitchFamily="34" charset="0"/>
                <a:cs typeface="Times New Roman" panose="02020603050405020304" pitchFamily="18" charset="0"/>
              </a:rPr>
              <a:t>  </a:t>
            </a:r>
          </a:p>
          <a:p>
            <a:pPr marL="0" marR="0" lvl="0" indent="0" rtl="0">
              <a:lnSpc>
                <a:spcPct val="100000"/>
              </a:lnSpc>
              <a:spcBef>
                <a:spcPts val="0"/>
              </a:spcBef>
              <a:spcAft>
                <a:spcPts val="0"/>
              </a:spcAft>
              <a:buNone/>
            </a:pPr>
            <a:r>
              <a:rPr lang="en-IN" sz="1200" dirty="0">
                <a:latin typeface="Times New Roman" panose="02020603050405020304" pitchFamily="18" charset="0"/>
                <a:ea typeface="Verdana" panose="020B0604030504040204" pitchFamily="34" charset="0"/>
                <a:cs typeface="Times New Roman" panose="02020603050405020304" pitchFamily="18" charset="0"/>
              </a:rPr>
              <a:t> </a:t>
            </a:r>
          </a:p>
          <a:p>
            <a:pPr marR="0" lvl="0" rtl="0">
              <a:lnSpc>
                <a:spcPct val="100000"/>
              </a:lnSpc>
              <a:spcBef>
                <a:spcPts val="0"/>
              </a:spcBef>
              <a:spcAft>
                <a:spcPts val="0"/>
              </a:spcAft>
            </a:pPr>
            <a:endParaRPr lang="en-IN" dirty="0">
              <a:latin typeface="Times New Roman" panose="02020603050405020304" pitchFamily="18" charset="0"/>
              <a:ea typeface="Verdana" panose="020B0604030504040204" pitchFamily="34" charset="0"/>
              <a:cs typeface="Times New Roman" panose="02020603050405020304" pitchFamily="18" charset="0"/>
            </a:endParaRPr>
          </a:p>
        </p:txBody>
      </p:sp>
      <p:pic>
        <p:nvPicPr>
          <p:cNvPr id="6" name="Picture 5">
            <a:extLst>
              <a:ext uri="{FF2B5EF4-FFF2-40B4-BE49-F238E27FC236}">
                <a16:creationId xmlns:a16="http://schemas.microsoft.com/office/drawing/2014/main" id="{2858B171-CDEF-7674-4628-A704468741E2}"/>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52284" y="1465889"/>
            <a:ext cx="5204605" cy="3735376"/>
          </a:xfrm>
          <a:prstGeom prst="rect">
            <a:avLst/>
          </a:prstGeom>
          <a:noFill/>
          <a:ln>
            <a:noFill/>
          </a:ln>
        </p:spPr>
      </p:pic>
      <p:pic>
        <p:nvPicPr>
          <p:cNvPr id="8" name="Picture 7">
            <a:extLst>
              <a:ext uri="{FF2B5EF4-FFF2-40B4-BE49-F238E27FC236}">
                <a16:creationId xmlns:a16="http://schemas.microsoft.com/office/drawing/2014/main" id="{A79A4356-A6FF-3131-6094-E08F7460BCEB}"/>
              </a:ext>
            </a:extLst>
          </p:cNvPr>
          <p:cNvPicPr>
            <a:picLocks noChangeAspect="1"/>
          </p:cNvPicPr>
          <p:nvPr/>
        </p:nvPicPr>
        <p:blipFill>
          <a:blip r:embed="rId4"/>
          <a:stretch>
            <a:fillRect/>
          </a:stretch>
        </p:blipFill>
        <p:spPr>
          <a:xfrm>
            <a:off x="6322728" y="1844106"/>
            <a:ext cx="5095865" cy="2978941"/>
          </a:xfrm>
          <a:prstGeom prst="rect">
            <a:avLst/>
          </a:prstGeom>
        </p:spPr>
      </p:pic>
      <p:sp>
        <p:nvSpPr>
          <p:cNvPr id="7" name="TextBox 6">
            <a:extLst>
              <a:ext uri="{FF2B5EF4-FFF2-40B4-BE49-F238E27FC236}">
                <a16:creationId xmlns:a16="http://schemas.microsoft.com/office/drawing/2014/main" id="{F2C18947-2B1F-BEE8-161B-767C4C62BAC1}"/>
              </a:ext>
            </a:extLst>
          </p:cNvPr>
          <p:cNvSpPr txBox="1"/>
          <p:nvPr/>
        </p:nvSpPr>
        <p:spPr>
          <a:xfrm>
            <a:off x="533698" y="5381231"/>
            <a:ext cx="4333270" cy="523220"/>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Schematic diagram of full adder using unified adaptive clock gating</a:t>
            </a:r>
          </a:p>
        </p:txBody>
      </p:sp>
      <p:sp>
        <p:nvSpPr>
          <p:cNvPr id="9" name="TextBox 8">
            <a:extLst>
              <a:ext uri="{FF2B5EF4-FFF2-40B4-BE49-F238E27FC236}">
                <a16:creationId xmlns:a16="http://schemas.microsoft.com/office/drawing/2014/main" id="{1A42B2DC-A1B8-CA44-EBCB-24513C664238}"/>
              </a:ext>
            </a:extLst>
          </p:cNvPr>
          <p:cNvSpPr txBox="1"/>
          <p:nvPr/>
        </p:nvSpPr>
        <p:spPr>
          <a:xfrm>
            <a:off x="6496368" y="5134741"/>
            <a:ext cx="5019356" cy="523220"/>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State machine diagram – shows the transitions of unified adaptive clock gating </a:t>
            </a:r>
          </a:p>
        </p:txBody>
      </p:sp>
    </p:spTree>
    <p:extLst>
      <p:ext uri="{BB962C8B-B14F-4D97-AF65-F5344CB8AC3E}">
        <p14:creationId xmlns:p14="http://schemas.microsoft.com/office/powerpoint/2010/main" val="1869460620"/>
      </p:ext>
    </p:extLst>
  </p:cSld>
  <p:clrMapOvr>
    <a:masterClrMapping/>
  </p:clrMapOvr>
  <mc:AlternateContent xmlns:mc="http://schemas.openxmlformats.org/markup-compatibility/2006" xmlns:p14="http://schemas.microsoft.com/office/powerpoint/2010/main">
    <mc:Choice Requires="p14">
      <p:transition spd="slow" p14:dur="2000" advTm="24174"/>
    </mc:Choice>
    <mc:Fallback xmlns="">
      <p:transition spd="slow" advTm="24174"/>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115D3A-9A48-EF9A-EB65-EB10498FEC7A}"/>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2C7AF62C-2799-3920-609C-4BB1158D8DD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latin typeface="Times New Roman" panose="02020603050405020304" pitchFamily="18" charset="0"/>
                <a:cs typeface="Times New Roman" panose="02020603050405020304" pitchFamily="18" charset="0"/>
              </a:rPr>
              <a:t>9</a:t>
            </a:fld>
            <a:endParaRPr lang="en-US" dirty="0">
              <a:latin typeface="Times New Roman" panose="02020603050405020304" pitchFamily="18" charset="0"/>
              <a:cs typeface="Times New Roman" panose="02020603050405020304" pitchFamily="18" charset="0"/>
            </a:endParaRPr>
          </a:p>
        </p:txBody>
      </p:sp>
      <p:sp>
        <p:nvSpPr>
          <p:cNvPr id="4" name="Google Shape;125;p3">
            <a:extLst>
              <a:ext uri="{FF2B5EF4-FFF2-40B4-BE49-F238E27FC236}">
                <a16:creationId xmlns:a16="http://schemas.microsoft.com/office/drawing/2014/main" id="{4B16CBD0-DE63-9577-B3D8-89D754C838DF}"/>
              </a:ext>
            </a:extLst>
          </p:cNvPr>
          <p:cNvSpPr txBox="1"/>
          <p:nvPr/>
        </p:nvSpPr>
        <p:spPr>
          <a:xfrm>
            <a:off x="1000124" y="232275"/>
            <a:ext cx="10515600" cy="493857"/>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1" i="0" u="none" strike="noStrike" cap="none" dirty="0">
                <a:solidFill>
                  <a:srgbClr val="000000"/>
                </a:solidFill>
                <a:latin typeface="Times New Roman" panose="02020603050405020304" pitchFamily="18" charset="0"/>
                <a:ea typeface="Montserrat"/>
                <a:cs typeface="Times New Roman" panose="02020603050405020304" pitchFamily="18" charset="0"/>
                <a:sym typeface="Montserrat"/>
              </a:rPr>
              <a:t>Use Cases &amp; Testing</a:t>
            </a:r>
            <a:endParaRPr lang="en-US" sz="1400" b="0" i="0" u="none" strike="noStrike" cap="none" dirty="0">
              <a:solidFill>
                <a:srgbClr val="000000"/>
              </a:solidFill>
              <a:latin typeface="Times New Roman" panose="02020603050405020304" pitchFamily="18" charset="0"/>
              <a:cs typeface="Times New Roman" panose="02020603050405020304" pitchFamily="18" charset="0"/>
              <a:sym typeface="Arial"/>
            </a:endParaRPr>
          </a:p>
        </p:txBody>
      </p:sp>
      <p:sp>
        <p:nvSpPr>
          <p:cNvPr id="5" name="Google Shape;125;p3">
            <a:extLst>
              <a:ext uri="{FF2B5EF4-FFF2-40B4-BE49-F238E27FC236}">
                <a16:creationId xmlns:a16="http://schemas.microsoft.com/office/drawing/2014/main" id="{260EAF32-7213-2CCB-4658-501C4BEA8CF4}"/>
              </a:ext>
            </a:extLst>
          </p:cNvPr>
          <p:cNvSpPr txBox="1"/>
          <p:nvPr/>
        </p:nvSpPr>
        <p:spPr>
          <a:xfrm>
            <a:off x="334296" y="1102606"/>
            <a:ext cx="5761704" cy="5091718"/>
          </a:xfrm>
          <a:prstGeom prst="rect">
            <a:avLst/>
          </a:prstGeom>
          <a:noFill/>
          <a:ln>
            <a:noFill/>
          </a:ln>
        </p:spPr>
        <p:txBody>
          <a:bodyPr spcFirstLastPara="1" wrap="square" lIns="91425" tIns="45700" rIns="91425" bIns="45700" anchor="t" anchorCtr="0">
            <a:noAutofit/>
          </a:bodyPr>
          <a:lstStyle/>
          <a:p>
            <a:pPr marL="0" marR="0" lvl="0" indent="0" rtl="0">
              <a:lnSpc>
                <a:spcPct val="100000"/>
              </a:lnSpc>
              <a:spcBef>
                <a:spcPts val="0"/>
              </a:spcBef>
              <a:spcAft>
                <a:spcPts val="0"/>
              </a:spcAft>
              <a:buNone/>
            </a:pPr>
            <a:r>
              <a:rPr lang="en-IN" b="1" dirty="0">
                <a:latin typeface="Times New Roman" panose="02020603050405020304" pitchFamily="18" charset="0"/>
                <a:ea typeface="Verdana" panose="020B0604030504040204" pitchFamily="34" charset="0"/>
                <a:cs typeface="Times New Roman" panose="02020603050405020304" pitchFamily="18" charset="0"/>
              </a:rPr>
              <a:t>Use Cases</a:t>
            </a:r>
          </a:p>
          <a:p>
            <a:pPr lvl="0"/>
            <a:r>
              <a:rPr lang="en-US" b="1" dirty="0">
                <a:latin typeface="Times New Roman" panose="02020603050405020304" pitchFamily="18" charset="0"/>
                <a:cs typeface="Times New Roman" panose="02020603050405020304" pitchFamily="18" charset="0"/>
              </a:rPr>
              <a:t>Use Case 1: Active Operation</a:t>
            </a:r>
          </a:p>
          <a:p>
            <a:pPr marL="285750" lvl="0" indent="-285750">
              <a:buFont typeface="Arial" panose="020B0604020202020204" pitchFamily="34" charset="0"/>
              <a:buChar char="•"/>
            </a:pPr>
            <a:r>
              <a:rPr lang="en-US" dirty="0">
                <a:latin typeface="Times New Roman" panose="02020603050405020304" pitchFamily="18" charset="0"/>
                <a:ea typeface="Verdana" panose="020B0604030504040204" pitchFamily="34" charset="0"/>
                <a:cs typeface="Times New Roman" panose="02020603050405020304" pitchFamily="18" charset="0"/>
              </a:rPr>
              <a:t>System continuously receiving valid data and performing computations</a:t>
            </a:r>
          </a:p>
          <a:p>
            <a:pPr marL="285750" lvl="0" indent="-285750">
              <a:buFont typeface="Arial" panose="020B0604020202020204" pitchFamily="34" charset="0"/>
              <a:buChar char="•"/>
            </a:pPr>
            <a:r>
              <a:rPr lang="en-US" dirty="0">
                <a:latin typeface="Times New Roman" panose="02020603050405020304" pitchFamily="18" charset="0"/>
                <a:ea typeface="Verdana" panose="020B0604030504040204" pitchFamily="34" charset="0"/>
                <a:cs typeface="Times New Roman" panose="02020603050405020304" pitchFamily="18" charset="0"/>
              </a:rPr>
              <a:t>The goal is to verify that the full adder performs its function correctly and </a:t>
            </a:r>
            <a:r>
              <a:rPr lang="en-US" dirty="0">
                <a:latin typeface="Times New Roman" panose="02020603050405020304" pitchFamily="18" charset="0"/>
                <a:cs typeface="Times New Roman" panose="02020603050405020304" pitchFamily="18" charset="0"/>
              </a:rPr>
              <a:t>that the power-saving modes are not triggered.</a:t>
            </a:r>
          </a:p>
          <a:p>
            <a:pPr lvl="0"/>
            <a:r>
              <a:rPr lang="en-US" b="1" dirty="0">
                <a:latin typeface="Times New Roman" panose="02020603050405020304" pitchFamily="18" charset="0"/>
                <a:cs typeface="Times New Roman" panose="02020603050405020304" pitchFamily="18" charset="0"/>
              </a:rPr>
              <a:t>Use Case 2: Short Idle Period</a:t>
            </a:r>
          </a:p>
          <a:p>
            <a:pPr marL="285750" lvl="0" indent="-285750">
              <a:buFont typeface="Arial" panose="020B0604020202020204" pitchFamily="34" charset="0"/>
              <a:buChar char="•"/>
            </a:pPr>
            <a:r>
              <a:rPr lang="en-US" dirty="0">
                <a:latin typeface="Times New Roman" panose="02020603050405020304" pitchFamily="18" charset="0"/>
                <a:ea typeface="Verdana" panose="020B0604030504040204" pitchFamily="34" charset="0"/>
                <a:cs typeface="Times New Roman" panose="02020603050405020304" pitchFamily="18" charset="0"/>
              </a:rPr>
              <a:t>The system becomes idle for short period of time.</a:t>
            </a:r>
          </a:p>
          <a:p>
            <a:pPr marL="285750" lvl="0" indent="-285750">
              <a:buFont typeface="Arial" panose="020B0604020202020204" pitchFamily="34" charset="0"/>
              <a:buChar char="•"/>
            </a:pPr>
            <a:r>
              <a:rPr lang="en-US" dirty="0">
                <a:latin typeface="Times New Roman" panose="02020603050405020304" pitchFamily="18" charset="0"/>
                <a:ea typeface="Verdana" panose="020B0604030504040204" pitchFamily="34" charset="0"/>
                <a:cs typeface="Times New Roman" panose="02020603050405020304" pitchFamily="18" charset="0"/>
              </a:rPr>
              <a:t>The goal is to verify that the controller enters into light sleep mode </a:t>
            </a:r>
            <a:r>
              <a:rPr lang="en-US" dirty="0">
                <a:latin typeface="Times New Roman" panose="02020603050405020304" pitchFamily="18" charset="0"/>
                <a:cs typeface="Times New Roman" panose="02020603050405020304" pitchFamily="18" charset="0"/>
              </a:rPr>
              <a:t>by gating the clock and holds the last valid output.</a:t>
            </a:r>
          </a:p>
          <a:p>
            <a:pPr lvl="0"/>
            <a:r>
              <a:rPr lang="en-US" b="1" dirty="0">
                <a:latin typeface="Times New Roman" panose="02020603050405020304" pitchFamily="18" charset="0"/>
                <a:cs typeface="Times New Roman" panose="02020603050405020304" pitchFamily="18" charset="0"/>
              </a:rPr>
              <a:t>Use Case 3: Long Idle Period</a:t>
            </a:r>
          </a:p>
          <a:p>
            <a:pPr marL="285750" lvl="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system remains idle for long duration.</a:t>
            </a:r>
          </a:p>
          <a:p>
            <a:pPr marL="285750" lvl="0" indent="-285750">
              <a:buFont typeface="Arial" panose="020B0604020202020204" pitchFamily="34" charset="0"/>
              <a:buChar char="•"/>
            </a:pPr>
            <a:r>
              <a:rPr lang="en-US" dirty="0">
                <a:latin typeface="Times New Roman" panose="02020603050405020304" pitchFamily="18" charset="0"/>
                <a:ea typeface="Verdana" panose="020B0604030504040204" pitchFamily="34" charset="0"/>
                <a:cs typeface="Times New Roman" panose="02020603050405020304" pitchFamily="18" charset="0"/>
              </a:rPr>
              <a:t>The goal is to verify that the controller enters into deep sleep mode </a:t>
            </a:r>
            <a:r>
              <a:rPr lang="en-US" dirty="0">
                <a:latin typeface="Times New Roman" panose="02020603050405020304" pitchFamily="18" charset="0"/>
                <a:cs typeface="Times New Roman" panose="02020603050405020304" pitchFamily="18" charset="0"/>
              </a:rPr>
              <a:t>by scaling down the clock frequency, and holds the last valid output.</a:t>
            </a:r>
          </a:p>
          <a:p>
            <a:pPr marL="285750" lvl="0" indent="-285750">
              <a:buFont typeface="Arial" panose="020B0604020202020204" pitchFamily="34" charset="0"/>
              <a:buChar char="•"/>
            </a:pPr>
            <a:endParaRPr lang="en-US" b="1" dirty="0">
              <a:latin typeface="Times New Roman" panose="02020603050405020304" pitchFamily="18" charset="0"/>
              <a:ea typeface="Verdana" panose="020B0604030504040204" pitchFamily="34" charset="0"/>
              <a:cs typeface="Times New Roman" panose="02020603050405020304" pitchFamily="18" charset="0"/>
            </a:endParaRPr>
          </a:p>
          <a:p>
            <a:pPr marL="285750" lvl="0" indent="-285750">
              <a:buFont typeface="Arial" panose="020B0604020202020204" pitchFamily="34" charset="0"/>
              <a:buChar char="•"/>
            </a:pPr>
            <a:endParaRPr lang="en-IN" dirty="0">
              <a:latin typeface="Times New Roman" panose="02020603050405020304" pitchFamily="18" charset="0"/>
              <a:ea typeface="Verdana" panose="020B0604030504040204" pitchFamily="34" charset="0"/>
              <a:cs typeface="Times New Roman" panose="02020603050405020304" pitchFamily="18" charset="0"/>
            </a:endParaRPr>
          </a:p>
          <a:p>
            <a:pPr marR="0" lvl="0" rtl="0">
              <a:lnSpc>
                <a:spcPct val="100000"/>
              </a:lnSpc>
              <a:spcBef>
                <a:spcPts val="0"/>
              </a:spcBef>
              <a:spcAft>
                <a:spcPts val="0"/>
              </a:spcAft>
            </a:pPr>
            <a:endParaRPr lang="en-IN" dirty="0">
              <a:latin typeface="Times New Roman" panose="02020603050405020304" pitchFamily="18" charset="0"/>
              <a:ea typeface="Verdana" panose="020B0604030504040204" pitchFamily="34" charset="0"/>
              <a:cs typeface="Times New Roman" panose="02020603050405020304" pitchFamily="18" charset="0"/>
            </a:endParaRPr>
          </a:p>
        </p:txBody>
      </p:sp>
      <p:sp>
        <p:nvSpPr>
          <p:cNvPr id="2" name="Google Shape;125;p3">
            <a:extLst>
              <a:ext uri="{FF2B5EF4-FFF2-40B4-BE49-F238E27FC236}">
                <a16:creationId xmlns:a16="http://schemas.microsoft.com/office/drawing/2014/main" id="{1DFC5A03-8723-D0D0-00E3-3B2AA3C32CD5}"/>
              </a:ext>
            </a:extLst>
          </p:cNvPr>
          <p:cNvSpPr txBox="1"/>
          <p:nvPr/>
        </p:nvSpPr>
        <p:spPr>
          <a:xfrm>
            <a:off x="6257924" y="1102607"/>
            <a:ext cx="5761704" cy="4934400"/>
          </a:xfrm>
          <a:prstGeom prst="rect">
            <a:avLst/>
          </a:prstGeom>
          <a:noFill/>
          <a:ln>
            <a:noFill/>
          </a:ln>
        </p:spPr>
        <p:txBody>
          <a:bodyPr spcFirstLastPara="1" wrap="square" lIns="91425" tIns="45700" rIns="91425" bIns="45700" anchor="t" anchorCtr="0">
            <a:noAutofit/>
          </a:bodyPr>
          <a:lstStyle/>
          <a:p>
            <a:pPr marL="0" marR="0" lvl="0" indent="0" rtl="0">
              <a:lnSpc>
                <a:spcPct val="100000"/>
              </a:lnSpc>
              <a:spcBef>
                <a:spcPts val="0"/>
              </a:spcBef>
              <a:spcAft>
                <a:spcPts val="0"/>
              </a:spcAft>
              <a:buNone/>
            </a:pPr>
            <a:r>
              <a:rPr lang="en-IN" b="1" dirty="0">
                <a:latin typeface="Times New Roman" panose="02020603050405020304" pitchFamily="18" charset="0"/>
                <a:ea typeface="Verdana" panose="020B0604030504040204" pitchFamily="34" charset="0"/>
                <a:cs typeface="Times New Roman" panose="02020603050405020304" pitchFamily="18" charset="0"/>
              </a:rPr>
              <a:t>Test Cases </a:t>
            </a:r>
          </a:p>
          <a:p>
            <a:pPr lvl="0"/>
            <a:r>
              <a:rPr lang="en-IN" b="1" dirty="0">
                <a:latin typeface="Times New Roman" panose="02020603050405020304" pitchFamily="18" charset="0"/>
                <a:cs typeface="Times New Roman" panose="02020603050405020304" pitchFamily="18" charset="0"/>
              </a:rPr>
              <a:t>Test Case 1: Active Mode Validation</a:t>
            </a:r>
          </a:p>
          <a:p>
            <a:pPr marL="285750" lvl="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To confirm the full adder performs its calculations accurately when the system is active.</a:t>
            </a:r>
          </a:p>
          <a:p>
            <a:pPr marL="285750" lvl="0" indent="-285750">
              <a:buFont typeface="Arial" panose="020B0604020202020204" pitchFamily="34" charset="0"/>
              <a:buChar char="•"/>
            </a:pPr>
            <a:r>
              <a:rPr lang="en-US" dirty="0">
                <a:latin typeface="Times New Roman" panose="02020603050405020304" pitchFamily="18" charset="0"/>
                <a:ea typeface="Verdana" panose="020B0604030504040204" pitchFamily="34" charset="0"/>
                <a:cs typeface="Times New Roman" panose="02020603050405020304" pitchFamily="18" charset="0"/>
              </a:rPr>
              <a:t>For this case keep the data_valid signal as high and apply the sequence of changing inputs.</a:t>
            </a:r>
          </a:p>
          <a:p>
            <a:pPr marL="285750" lvl="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Sum and Cout outputs will update correctly with a small delay after each input change.</a:t>
            </a:r>
            <a:endParaRPr lang="en-US" dirty="0">
              <a:latin typeface="Times New Roman" panose="02020603050405020304" pitchFamily="18" charset="0"/>
              <a:ea typeface="Verdana" panose="020B0604030504040204" pitchFamily="34" charset="0"/>
              <a:cs typeface="Times New Roman" panose="02020603050405020304" pitchFamily="18" charset="0"/>
            </a:endParaRPr>
          </a:p>
          <a:p>
            <a:pPr lvl="0"/>
            <a:r>
              <a:rPr lang="en-US" b="1" dirty="0">
                <a:latin typeface="Times New Roman" panose="02020603050405020304" pitchFamily="18" charset="0"/>
                <a:cs typeface="Times New Roman" panose="02020603050405020304" pitchFamily="18" charset="0"/>
              </a:rPr>
              <a:t>Test Case 2: Light Sleep / Gating Validation</a:t>
            </a:r>
          </a:p>
          <a:p>
            <a:pPr marL="285750" lvl="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To show that the system correctly gates the clock and holds its outputs during a short idle period.</a:t>
            </a:r>
          </a:p>
          <a:p>
            <a:pPr marL="285750" lvl="0" indent="-285750">
              <a:buFont typeface="Arial" panose="020B0604020202020204" pitchFamily="34" charset="0"/>
              <a:buChar char="•"/>
            </a:pPr>
            <a:r>
              <a:rPr lang="en-US" dirty="0">
                <a:latin typeface="Times New Roman" panose="02020603050405020304" pitchFamily="18" charset="0"/>
                <a:ea typeface="Verdana" panose="020B0604030504040204" pitchFamily="34" charset="0"/>
                <a:cs typeface="Times New Roman" panose="02020603050405020304" pitchFamily="18" charset="0"/>
              </a:rPr>
              <a:t>For this case keep the data_valid signal as low.</a:t>
            </a:r>
          </a:p>
          <a:p>
            <a:pPr marL="285750" lvl="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Sum and Cout outputs </a:t>
            </a:r>
            <a:r>
              <a:rPr lang="en-US" b="1" dirty="0">
                <a:latin typeface="Times New Roman" panose="02020603050405020304" pitchFamily="18" charset="0"/>
                <a:cs typeface="Times New Roman" panose="02020603050405020304" pitchFamily="18" charset="0"/>
              </a:rPr>
              <a:t>hold their last valid values</a:t>
            </a:r>
            <a:r>
              <a:rPr lang="en-US" dirty="0">
                <a:latin typeface="Times New Roman" panose="02020603050405020304" pitchFamily="18" charset="0"/>
                <a:cs typeface="Times New Roman" panose="02020603050405020304" pitchFamily="18" charset="0"/>
              </a:rPr>
              <a:t> and do not change</a:t>
            </a:r>
          </a:p>
          <a:p>
            <a:pPr lvl="0"/>
            <a:r>
              <a:rPr lang="en-US" b="1" dirty="0">
                <a:latin typeface="Times New Roman" panose="02020603050405020304" pitchFamily="18" charset="0"/>
                <a:cs typeface="Times New Roman" panose="02020603050405020304" pitchFamily="18" charset="0"/>
              </a:rPr>
              <a:t>Test Case 3: Wake-Up Validation</a:t>
            </a:r>
          </a:p>
          <a:p>
            <a:pPr marL="285750" lvl="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To prove that the system can transition back to Active Mode and continue processing data correctly</a:t>
            </a:r>
          </a:p>
          <a:p>
            <a:pPr marL="285750" lvl="0" indent="-285750">
              <a:buFont typeface="Arial" panose="020B0604020202020204" pitchFamily="34" charset="0"/>
              <a:buChar char="•"/>
            </a:pPr>
            <a:r>
              <a:rPr lang="en-US" dirty="0">
                <a:latin typeface="Times New Roman" panose="02020603050405020304" pitchFamily="18" charset="0"/>
                <a:ea typeface="Verdana" panose="020B0604030504040204" pitchFamily="34" charset="0"/>
                <a:cs typeface="Times New Roman" panose="02020603050405020304" pitchFamily="18" charset="0"/>
              </a:rPr>
              <a:t>After the sleep mode data_valid is again high</a:t>
            </a:r>
            <a:r>
              <a:rPr lang="en-US" b="1" dirty="0">
                <a:latin typeface="Times New Roman" panose="02020603050405020304" pitchFamily="18" charset="0"/>
                <a:ea typeface="Verdana" panose="020B0604030504040204" pitchFamily="34" charset="0"/>
                <a:cs typeface="Times New Roman" panose="02020603050405020304" pitchFamily="18" charset="0"/>
              </a:rPr>
              <a:t>.</a:t>
            </a:r>
          </a:p>
          <a:p>
            <a:pPr marL="285750" lvl="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Sum and Cout outputs will update correctly based on the new inputs.</a:t>
            </a:r>
            <a:endParaRPr lang="en-IN" b="1" dirty="0">
              <a:latin typeface="Times New Roman" panose="02020603050405020304" pitchFamily="18" charset="0"/>
              <a:ea typeface="Verdana" panose="020B0604030504040204" pitchFamily="34" charset="0"/>
              <a:cs typeface="Times New Roman" panose="02020603050405020304" pitchFamily="18" charset="0"/>
            </a:endParaRPr>
          </a:p>
        </p:txBody>
      </p:sp>
    </p:spTree>
    <p:extLst>
      <p:ext uri="{BB962C8B-B14F-4D97-AF65-F5344CB8AC3E}">
        <p14:creationId xmlns:p14="http://schemas.microsoft.com/office/powerpoint/2010/main" val="19954280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A65F51-F37A-0F0B-AFF4-2134BDC03074}"/>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E60440EB-4A8A-D93C-606D-594A9C00C624}"/>
              </a:ext>
            </a:extLst>
          </p:cNvPr>
          <p:cNvSpPr>
            <a:spLocks noGrp="1"/>
          </p:cNvSpPr>
          <p:nvPr>
            <p:ph type="sldNum" idx="12"/>
          </p:nvPr>
        </p:nvSpPr>
        <p:spPr>
          <a:xfrm>
            <a:off x="9448800" y="6492875"/>
            <a:ext cx="2743200" cy="365125"/>
          </a:xfrm>
        </p:spPr>
        <p:txBody>
          <a:bodyPr/>
          <a:lstStyle/>
          <a:p>
            <a:pPr marL="0" lvl="0" indent="0" algn="r" rtl="0">
              <a:spcBef>
                <a:spcPts val="0"/>
              </a:spcBef>
              <a:spcAft>
                <a:spcPts val="0"/>
              </a:spcAft>
              <a:buNone/>
            </a:pPr>
            <a:fld id="{00000000-1234-1234-1234-123412341234}" type="slidenum">
              <a:rPr lang="en-US" smtClean="0">
                <a:latin typeface="Times New Roman" panose="02020603050405020304" pitchFamily="18" charset="0"/>
                <a:cs typeface="Times New Roman" panose="02020603050405020304" pitchFamily="18" charset="0"/>
              </a:rPr>
              <a:t>10</a:t>
            </a:fld>
            <a:endParaRPr lang="en-US" dirty="0">
              <a:latin typeface="Times New Roman" panose="02020603050405020304" pitchFamily="18" charset="0"/>
              <a:cs typeface="Times New Roman" panose="02020603050405020304" pitchFamily="18" charset="0"/>
            </a:endParaRPr>
          </a:p>
        </p:txBody>
      </p:sp>
      <p:sp>
        <p:nvSpPr>
          <p:cNvPr id="4" name="Google Shape;125;p3">
            <a:extLst>
              <a:ext uri="{FF2B5EF4-FFF2-40B4-BE49-F238E27FC236}">
                <a16:creationId xmlns:a16="http://schemas.microsoft.com/office/drawing/2014/main" id="{6E899E6C-558C-950D-AACE-666F4910120B}"/>
              </a:ext>
            </a:extLst>
          </p:cNvPr>
          <p:cNvSpPr txBox="1"/>
          <p:nvPr/>
        </p:nvSpPr>
        <p:spPr>
          <a:xfrm>
            <a:off x="1000125" y="232275"/>
            <a:ext cx="10515600" cy="493857"/>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1" i="0" u="none" strike="noStrike" cap="none" dirty="0">
                <a:solidFill>
                  <a:srgbClr val="000000"/>
                </a:solidFill>
                <a:latin typeface="Times New Roman" panose="02020603050405020304" pitchFamily="18" charset="0"/>
                <a:ea typeface="Montserrat"/>
                <a:cs typeface="Times New Roman" panose="02020603050405020304" pitchFamily="18" charset="0"/>
                <a:sym typeface="Montserrat"/>
              </a:rPr>
              <a:t>Implementation and Results – Iteration 1</a:t>
            </a:r>
            <a:endParaRPr lang="en-US" sz="1400" b="0" i="0" u="none" strike="noStrike" cap="none" dirty="0">
              <a:solidFill>
                <a:srgbClr val="000000"/>
              </a:solidFill>
              <a:latin typeface="Times New Roman" panose="02020603050405020304" pitchFamily="18" charset="0"/>
              <a:cs typeface="Times New Roman" panose="02020603050405020304" pitchFamily="18" charset="0"/>
              <a:sym typeface="Arial"/>
            </a:endParaRPr>
          </a:p>
        </p:txBody>
      </p:sp>
      <p:sp>
        <p:nvSpPr>
          <p:cNvPr id="5" name="Google Shape;125;p3">
            <a:extLst>
              <a:ext uri="{FF2B5EF4-FFF2-40B4-BE49-F238E27FC236}">
                <a16:creationId xmlns:a16="http://schemas.microsoft.com/office/drawing/2014/main" id="{935777F9-D82A-2939-0C57-126FBC7D4C26}"/>
              </a:ext>
            </a:extLst>
          </p:cNvPr>
          <p:cNvSpPr txBox="1"/>
          <p:nvPr/>
        </p:nvSpPr>
        <p:spPr>
          <a:xfrm>
            <a:off x="452284" y="871532"/>
            <a:ext cx="11326761" cy="5735761"/>
          </a:xfrm>
          <a:prstGeom prst="rect">
            <a:avLst/>
          </a:prstGeom>
          <a:noFill/>
          <a:ln>
            <a:noFill/>
          </a:ln>
        </p:spPr>
        <p:txBody>
          <a:bodyPr spcFirstLastPara="1" wrap="square" lIns="91425" tIns="45700" rIns="91425" bIns="45700" anchor="t" anchorCtr="0">
            <a:noAutofit/>
          </a:bodyPr>
          <a:lstStyle/>
          <a:p>
            <a:pPr marL="0" marR="0" lvl="0" indent="0" rtl="0">
              <a:lnSpc>
                <a:spcPct val="100000"/>
              </a:lnSpc>
              <a:spcBef>
                <a:spcPts val="0"/>
              </a:spcBef>
              <a:spcAft>
                <a:spcPts val="0"/>
              </a:spcAft>
              <a:buNone/>
            </a:pPr>
            <a:r>
              <a:rPr lang="en-IN" b="1" dirty="0">
                <a:latin typeface="Times New Roman" panose="02020603050405020304" pitchFamily="18" charset="0"/>
                <a:ea typeface="Verdana" panose="020B0604030504040204" pitchFamily="34" charset="0"/>
                <a:cs typeface="Times New Roman" panose="02020603050405020304" pitchFamily="18" charset="0"/>
              </a:rPr>
              <a:t>Iteration : Results</a:t>
            </a:r>
          </a:p>
          <a:p>
            <a:pPr marL="0" marR="0" lvl="0" indent="0" rtl="0">
              <a:lnSpc>
                <a:spcPct val="100000"/>
              </a:lnSpc>
              <a:spcBef>
                <a:spcPts val="0"/>
              </a:spcBef>
              <a:spcAft>
                <a:spcPts val="0"/>
              </a:spcAft>
              <a:buNone/>
            </a:pPr>
            <a:endParaRPr lang="en-IN" dirty="0">
              <a:latin typeface="Times New Roman" panose="02020603050405020304" pitchFamily="18" charset="0"/>
              <a:ea typeface="Verdana" panose="020B0604030504040204" pitchFamily="34" charset="0"/>
              <a:cs typeface="Times New Roman" panose="02020603050405020304" pitchFamily="18" charset="0"/>
            </a:endParaRPr>
          </a:p>
          <a:p>
            <a:pPr marL="285750" marR="0" lvl="0" indent="-285750" rtl="0">
              <a:lnSpc>
                <a:spcPct val="100000"/>
              </a:lnSpc>
              <a:spcBef>
                <a:spcPts val="0"/>
              </a:spcBef>
              <a:spcAft>
                <a:spcPts val="0"/>
              </a:spcAft>
              <a:buFont typeface="Arial" panose="020B0604020202020204" pitchFamily="34" charset="0"/>
              <a:buChar char="•"/>
            </a:pPr>
            <a:endParaRPr lang="en-IN" dirty="0">
              <a:latin typeface="Times New Roman" panose="02020603050405020304" pitchFamily="18" charset="0"/>
              <a:ea typeface="Verdana" panose="020B0604030504040204" pitchFamily="34" charset="0"/>
              <a:cs typeface="Times New Roman" panose="02020603050405020304" pitchFamily="18" charset="0"/>
            </a:endParaRPr>
          </a:p>
          <a:p>
            <a:pPr marR="0" lvl="0" rtl="0">
              <a:lnSpc>
                <a:spcPct val="100000"/>
              </a:lnSpc>
              <a:spcBef>
                <a:spcPts val="0"/>
              </a:spcBef>
              <a:spcAft>
                <a:spcPts val="0"/>
              </a:spcAft>
            </a:pPr>
            <a:endParaRPr lang="en-IN" dirty="0">
              <a:latin typeface="Times New Roman" panose="02020603050405020304" pitchFamily="18" charset="0"/>
              <a:ea typeface="Verdana" panose="020B0604030504040204" pitchFamily="34" charset="0"/>
              <a:cs typeface="Times New Roman" panose="02020603050405020304" pitchFamily="18" charset="0"/>
            </a:endParaRPr>
          </a:p>
        </p:txBody>
      </p:sp>
      <p:pic>
        <p:nvPicPr>
          <p:cNvPr id="2" name="Picture 1">
            <a:extLst>
              <a:ext uri="{FF2B5EF4-FFF2-40B4-BE49-F238E27FC236}">
                <a16:creationId xmlns:a16="http://schemas.microsoft.com/office/drawing/2014/main" id="{1881D933-4AAC-EE67-1642-DBD16B767881}"/>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13189" y="1359064"/>
            <a:ext cx="4094786" cy="2606040"/>
          </a:xfrm>
          <a:prstGeom prst="rect">
            <a:avLst/>
          </a:prstGeom>
          <a:noFill/>
          <a:ln>
            <a:noFill/>
          </a:ln>
        </p:spPr>
      </p:pic>
      <p:pic>
        <p:nvPicPr>
          <p:cNvPr id="7" name="Picture 6">
            <a:extLst>
              <a:ext uri="{FF2B5EF4-FFF2-40B4-BE49-F238E27FC236}">
                <a16:creationId xmlns:a16="http://schemas.microsoft.com/office/drawing/2014/main" id="{4F5185EB-64FD-EA8F-A103-54982DFD1BA8}"/>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300283" y="3965104"/>
            <a:ext cx="5731510" cy="1988820"/>
          </a:xfrm>
          <a:prstGeom prst="rect">
            <a:avLst/>
          </a:prstGeom>
          <a:noFill/>
          <a:ln>
            <a:noFill/>
          </a:ln>
        </p:spPr>
      </p:pic>
      <p:sp>
        <p:nvSpPr>
          <p:cNvPr id="9" name="TextBox 8">
            <a:extLst>
              <a:ext uri="{FF2B5EF4-FFF2-40B4-BE49-F238E27FC236}">
                <a16:creationId xmlns:a16="http://schemas.microsoft.com/office/drawing/2014/main" id="{45F2D723-889A-74CF-9772-AF97721AE4C7}"/>
              </a:ext>
            </a:extLst>
          </p:cNvPr>
          <p:cNvSpPr txBox="1"/>
          <p:nvPr/>
        </p:nvSpPr>
        <p:spPr>
          <a:xfrm>
            <a:off x="713189" y="4046377"/>
            <a:ext cx="3613005" cy="307777"/>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Unified adaptive clock gating</a:t>
            </a:r>
          </a:p>
        </p:txBody>
      </p:sp>
      <p:sp>
        <p:nvSpPr>
          <p:cNvPr id="11" name="TextBox 10">
            <a:extLst>
              <a:ext uri="{FF2B5EF4-FFF2-40B4-BE49-F238E27FC236}">
                <a16:creationId xmlns:a16="http://schemas.microsoft.com/office/drawing/2014/main" id="{05DDF5D6-7E3C-A0AA-B05A-F405913FF992}"/>
              </a:ext>
            </a:extLst>
          </p:cNvPr>
          <p:cNvSpPr txBox="1"/>
          <p:nvPr/>
        </p:nvSpPr>
        <p:spPr>
          <a:xfrm>
            <a:off x="713189" y="4499554"/>
            <a:ext cx="4120412" cy="1169551"/>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The unified_controller and ce_gen work together to produce a single, highly-controlled </a:t>
            </a:r>
            <a:r>
              <a:rPr lang="en-US" b="1" dirty="0">
                <a:latin typeface="Times New Roman" panose="02020603050405020304" pitchFamily="18" charset="0"/>
                <a:cs typeface="Times New Roman" panose="02020603050405020304" pitchFamily="18" charset="0"/>
              </a:rPr>
              <a:t>effective_ce</a:t>
            </a:r>
            <a:r>
              <a:rPr lang="en-US" dirty="0">
                <a:latin typeface="Times New Roman" panose="02020603050405020304" pitchFamily="18" charset="0"/>
                <a:cs typeface="Times New Roman" panose="02020603050405020304" pitchFamily="18" charset="0"/>
              </a:rPr>
              <a:t> signal. This signal is used to directly control the enable pin on each individual register, giving you granular control over exactly which parts of the circuit are clocked.</a:t>
            </a:r>
            <a:endParaRPr lang="en-IN" dirty="0">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74B77D8B-B1DF-5F47-8728-6DAE8DFF8121}"/>
              </a:ext>
            </a:extLst>
          </p:cNvPr>
          <p:cNvPicPr>
            <a:picLocks noChangeAspect="1"/>
          </p:cNvPicPr>
          <p:nvPr/>
        </p:nvPicPr>
        <p:blipFill>
          <a:blip r:embed="rId4"/>
          <a:stretch>
            <a:fillRect/>
          </a:stretch>
        </p:blipFill>
        <p:spPr>
          <a:xfrm>
            <a:off x="5300283" y="962174"/>
            <a:ext cx="5554149" cy="2945451"/>
          </a:xfrm>
          <a:prstGeom prst="rect">
            <a:avLst/>
          </a:prstGeom>
        </p:spPr>
      </p:pic>
      <p:sp>
        <p:nvSpPr>
          <p:cNvPr id="12" name="TextBox 11">
            <a:extLst>
              <a:ext uri="{FF2B5EF4-FFF2-40B4-BE49-F238E27FC236}">
                <a16:creationId xmlns:a16="http://schemas.microsoft.com/office/drawing/2014/main" id="{0DAF834F-382C-3E26-69E3-848E122E530C}"/>
              </a:ext>
            </a:extLst>
          </p:cNvPr>
          <p:cNvSpPr txBox="1"/>
          <p:nvPr/>
        </p:nvSpPr>
        <p:spPr>
          <a:xfrm>
            <a:off x="5565058" y="6046839"/>
            <a:ext cx="5053781" cy="307777"/>
          </a:xfrm>
          <a:prstGeom prst="rect">
            <a:avLst/>
          </a:prstGeom>
          <a:noFill/>
        </p:spPr>
        <p:txBody>
          <a:bodyPr wrap="square" rtlCol="0">
            <a:spAutoFit/>
          </a:bodyPr>
          <a:lstStyle/>
          <a:p>
            <a:r>
              <a:rPr lang="en-IN" b="1" dirty="0"/>
              <a:t>Output waveform and power report</a:t>
            </a:r>
          </a:p>
        </p:txBody>
      </p:sp>
    </p:spTree>
    <p:extLst>
      <p:ext uri="{BB962C8B-B14F-4D97-AF65-F5344CB8AC3E}">
        <p14:creationId xmlns:p14="http://schemas.microsoft.com/office/powerpoint/2010/main" val="3238600573"/>
      </p:ext>
    </p:extLst>
  </p:cSld>
  <p:clrMapOvr>
    <a:masterClrMapping/>
  </p:clrMapOvr>
  <mc:AlternateContent xmlns:mc="http://schemas.openxmlformats.org/markup-compatibility/2006" xmlns:p14="http://schemas.microsoft.com/office/powerpoint/2010/main">
    <mc:Choice Requires="p14">
      <p:transition spd="slow" p14:dur="2000" advTm="7006"/>
    </mc:Choice>
    <mc:Fallback xmlns="">
      <p:transition spd="slow" advTm="7006"/>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EA98FA-4F35-C93F-73A2-485950D05BBB}"/>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C4132046-4ACE-A1E3-4010-52881C9836A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latin typeface="Times New Roman" panose="02020603050405020304" pitchFamily="18" charset="0"/>
                <a:cs typeface="Times New Roman" panose="02020603050405020304" pitchFamily="18" charset="0"/>
              </a:rPr>
              <a:t>11</a:t>
            </a:fld>
            <a:endParaRPr lang="en-US" dirty="0">
              <a:latin typeface="Times New Roman" panose="02020603050405020304" pitchFamily="18" charset="0"/>
              <a:cs typeface="Times New Roman" panose="02020603050405020304" pitchFamily="18" charset="0"/>
            </a:endParaRPr>
          </a:p>
        </p:txBody>
      </p:sp>
      <p:sp>
        <p:nvSpPr>
          <p:cNvPr id="4" name="Google Shape;125;p3">
            <a:extLst>
              <a:ext uri="{FF2B5EF4-FFF2-40B4-BE49-F238E27FC236}">
                <a16:creationId xmlns:a16="http://schemas.microsoft.com/office/drawing/2014/main" id="{9BB43107-1A1B-029D-C73C-2126600571B2}"/>
              </a:ext>
            </a:extLst>
          </p:cNvPr>
          <p:cNvSpPr txBox="1"/>
          <p:nvPr/>
        </p:nvSpPr>
        <p:spPr>
          <a:xfrm>
            <a:off x="1000124" y="232275"/>
            <a:ext cx="10515600" cy="493857"/>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1" i="0" u="none" strike="noStrike" cap="none" dirty="0">
                <a:solidFill>
                  <a:srgbClr val="000000"/>
                </a:solidFill>
                <a:latin typeface="Times New Roman" panose="02020603050405020304" pitchFamily="18" charset="0"/>
                <a:ea typeface="Montserrat"/>
                <a:cs typeface="Times New Roman" panose="02020603050405020304" pitchFamily="18" charset="0"/>
                <a:sym typeface="Montserrat"/>
              </a:rPr>
              <a:t>Conclusion &amp; Future Work</a:t>
            </a:r>
            <a:endParaRPr lang="en-US" sz="1400" b="0" i="0" u="none" strike="noStrike" cap="none" dirty="0">
              <a:solidFill>
                <a:srgbClr val="000000"/>
              </a:solidFill>
              <a:latin typeface="Times New Roman" panose="02020603050405020304" pitchFamily="18" charset="0"/>
              <a:cs typeface="Times New Roman" panose="02020603050405020304" pitchFamily="18" charset="0"/>
              <a:sym typeface="Arial"/>
            </a:endParaRPr>
          </a:p>
        </p:txBody>
      </p:sp>
      <p:sp>
        <p:nvSpPr>
          <p:cNvPr id="5" name="Google Shape;125;p3">
            <a:extLst>
              <a:ext uri="{FF2B5EF4-FFF2-40B4-BE49-F238E27FC236}">
                <a16:creationId xmlns:a16="http://schemas.microsoft.com/office/drawing/2014/main" id="{8EB3901A-2C1A-A66B-C9AE-81E8FAFAB4FF}"/>
              </a:ext>
            </a:extLst>
          </p:cNvPr>
          <p:cNvSpPr txBox="1"/>
          <p:nvPr/>
        </p:nvSpPr>
        <p:spPr>
          <a:xfrm>
            <a:off x="452283" y="871532"/>
            <a:ext cx="11326761" cy="5735761"/>
          </a:xfrm>
          <a:prstGeom prst="rect">
            <a:avLst/>
          </a:prstGeom>
          <a:noFill/>
          <a:ln>
            <a:noFill/>
          </a:ln>
        </p:spPr>
        <p:txBody>
          <a:bodyPr spcFirstLastPara="1" wrap="square" lIns="91425" tIns="45700" rIns="91425" bIns="45700" anchor="t" anchorCtr="0">
            <a:noAutofit/>
          </a:bodyPr>
          <a:lstStyle/>
          <a:p>
            <a:pPr marL="0" marR="0" lvl="0" indent="0" rtl="0">
              <a:lnSpc>
                <a:spcPct val="100000"/>
              </a:lnSpc>
              <a:spcBef>
                <a:spcPts val="0"/>
              </a:spcBef>
              <a:spcAft>
                <a:spcPts val="0"/>
              </a:spcAft>
              <a:buNone/>
            </a:pPr>
            <a:r>
              <a:rPr lang="en-IN" b="1" dirty="0">
                <a:latin typeface="Times New Roman" panose="02020603050405020304" pitchFamily="18" charset="0"/>
                <a:ea typeface="Verdana" panose="020B0604030504040204" pitchFamily="34" charset="0"/>
                <a:cs typeface="Times New Roman" panose="02020603050405020304" pitchFamily="18" charset="0"/>
              </a:rPr>
              <a:t>Summary and Conclusion </a:t>
            </a:r>
          </a:p>
          <a:p>
            <a:pPr marL="0" marR="0" lvl="0" indent="0" rtl="0">
              <a:lnSpc>
                <a:spcPct val="100000"/>
              </a:lnSpc>
              <a:spcBef>
                <a:spcPts val="0"/>
              </a:spcBef>
              <a:spcAft>
                <a:spcPts val="0"/>
              </a:spcAft>
              <a:buNone/>
            </a:pPr>
            <a:endParaRPr lang="en-IN" dirty="0">
              <a:latin typeface="Times New Roman" panose="02020603050405020304" pitchFamily="18" charset="0"/>
              <a:ea typeface="Verdana" panose="020B0604030504040204" pitchFamily="34" charset="0"/>
              <a:cs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In this project, we successfully introduced and implemented a smart, two-level power-saving system called a </a:t>
            </a:r>
            <a:r>
              <a:rPr lang="en-US" b="1" dirty="0">
                <a:latin typeface="Times New Roman" panose="02020603050405020304" pitchFamily="18" charset="0"/>
                <a:cs typeface="Times New Roman" panose="02020603050405020304" pitchFamily="18" charset="0"/>
              </a:rPr>
              <a:t>"unified adaptive clock gating methodology."</a:t>
            </a:r>
            <a:r>
              <a:rPr lang="en-US" dirty="0">
                <a:latin typeface="Times New Roman" panose="02020603050405020304" pitchFamily="18" charset="0"/>
                <a:cs typeface="Times New Roman" panose="02020603050405020304" pitchFamily="18" charset="0"/>
              </a:rPr>
              <a:t> </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Our design uses a single controller that intelligently manages two distinct energy-saving tools: clock gating and dynamic frequency scaling.</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results proved that the functionality of the full adder circuit was not impacted by this algorithm. </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design successfully reduced the total power consumption to </a:t>
            </a:r>
            <a:r>
              <a:rPr lang="en-US" b="1" dirty="0">
                <a:latin typeface="Times New Roman" panose="02020603050405020304" pitchFamily="18" charset="0"/>
                <a:cs typeface="Times New Roman" panose="02020603050405020304" pitchFamily="18" charset="0"/>
              </a:rPr>
              <a:t>0.5 W</a:t>
            </a:r>
            <a:r>
              <a:rPr lang="en-US" dirty="0">
                <a:latin typeface="Times New Roman" panose="02020603050405020304" pitchFamily="18" charset="0"/>
                <a:cs typeface="Times New Roman" panose="02020603050405020304" pitchFamily="18" charset="0"/>
              </a:rPr>
              <a:t>, demonstrating the efficiency of our approach. </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This project shows that a unified, adaptive strategy is a highly effective method for low-power RTL design.</a:t>
            </a:r>
          </a:p>
          <a:p>
            <a:pPr marR="0" lvl="0" rtl="0">
              <a:lnSpc>
                <a:spcPct val="100000"/>
              </a:lnSpc>
              <a:spcBef>
                <a:spcPts val="0"/>
              </a:spcBef>
              <a:spcAft>
                <a:spcPts val="0"/>
              </a:spcAft>
            </a:pPr>
            <a:endParaRPr lang="en-IN" dirty="0">
              <a:latin typeface="Times New Roman" panose="02020603050405020304" pitchFamily="18" charset="0"/>
              <a:ea typeface="Verdana" panose="020B0604030504040204" pitchFamily="34" charset="0"/>
              <a:cs typeface="Times New Roman" panose="02020603050405020304" pitchFamily="18" charset="0"/>
            </a:endParaRPr>
          </a:p>
          <a:p>
            <a:pPr marR="0" lvl="0" rtl="0">
              <a:lnSpc>
                <a:spcPct val="100000"/>
              </a:lnSpc>
              <a:spcBef>
                <a:spcPts val="0"/>
              </a:spcBef>
              <a:spcAft>
                <a:spcPts val="0"/>
              </a:spcAft>
            </a:pPr>
            <a:endParaRPr lang="en-IN" dirty="0">
              <a:latin typeface="Times New Roman" panose="02020603050405020304" pitchFamily="18" charset="0"/>
              <a:ea typeface="Verdana" panose="020B0604030504040204" pitchFamily="34" charset="0"/>
              <a:cs typeface="Times New Roman" panose="02020603050405020304" pitchFamily="18" charset="0"/>
            </a:endParaRPr>
          </a:p>
          <a:p>
            <a:pPr marR="0" lvl="0" rtl="0">
              <a:lnSpc>
                <a:spcPct val="100000"/>
              </a:lnSpc>
              <a:spcBef>
                <a:spcPts val="0"/>
              </a:spcBef>
              <a:spcAft>
                <a:spcPts val="0"/>
              </a:spcAft>
            </a:pPr>
            <a:endParaRPr lang="en-IN" dirty="0">
              <a:latin typeface="Times New Roman" panose="02020603050405020304" pitchFamily="18" charset="0"/>
              <a:ea typeface="Verdana" panose="020B0604030504040204" pitchFamily="34" charset="0"/>
              <a:cs typeface="Times New Roman" panose="02020603050405020304" pitchFamily="18" charset="0"/>
            </a:endParaRPr>
          </a:p>
          <a:p>
            <a:r>
              <a:rPr lang="en-IN" b="1" dirty="0">
                <a:latin typeface="Times New Roman" panose="02020603050405020304" pitchFamily="18" charset="0"/>
                <a:ea typeface="Verdana" panose="020B0604030504040204" pitchFamily="34" charset="0"/>
                <a:cs typeface="Times New Roman" panose="02020603050405020304" pitchFamily="18" charset="0"/>
              </a:rPr>
              <a:t>Future Work</a:t>
            </a:r>
          </a:p>
          <a:p>
            <a:pPr marL="285750" lvl="0" indent="-285750">
              <a:buFont typeface="Arial" panose="020B0604020202020204" pitchFamily="34" charset="0"/>
              <a:buChar char="•"/>
            </a:pPr>
            <a:r>
              <a:rPr lang="en-US" b="1" dirty="0">
                <a:latin typeface="Times New Roman" panose="02020603050405020304" pitchFamily="18" charset="0"/>
                <a:ea typeface="Verdana" panose="020B0604030504040204" pitchFamily="34" charset="0"/>
                <a:cs typeface="Times New Roman" panose="02020603050405020304" pitchFamily="18" charset="0"/>
              </a:rPr>
              <a:t>Implement in Advanced Computing Blocks: </a:t>
            </a:r>
            <a:r>
              <a:rPr lang="en-US" dirty="0">
                <a:latin typeface="Times New Roman" panose="02020603050405020304" pitchFamily="18" charset="0"/>
                <a:ea typeface="Verdana" panose="020B0604030504040204" pitchFamily="34" charset="0"/>
                <a:cs typeface="Times New Roman" panose="02020603050405020304" pitchFamily="18" charset="0"/>
              </a:rPr>
              <a:t>The unified approach can be applied to more complex computing blocks to further demonstrate the efficiency and scalability of the proposed technique.</a:t>
            </a:r>
          </a:p>
          <a:p>
            <a:pPr marL="285750" lvl="0" indent="-285750">
              <a:buFont typeface="Arial" panose="020B0604020202020204" pitchFamily="34" charset="0"/>
              <a:buChar char="•"/>
            </a:pPr>
            <a:r>
              <a:rPr lang="en-US" b="1" dirty="0">
                <a:latin typeface="Times New Roman" panose="02020603050405020304" pitchFamily="18" charset="0"/>
                <a:ea typeface="Verdana" panose="020B0604030504040204" pitchFamily="34" charset="0"/>
                <a:cs typeface="Times New Roman" panose="02020603050405020304" pitchFamily="18" charset="0"/>
              </a:rPr>
              <a:t>Dynamic Voltage and Frequency Scaling (DVFS): </a:t>
            </a:r>
            <a:r>
              <a:rPr lang="en-US" dirty="0">
                <a:latin typeface="Times New Roman" panose="02020603050405020304" pitchFamily="18" charset="0"/>
                <a:ea typeface="Verdana" panose="020B0604030504040204" pitchFamily="34" charset="0"/>
                <a:cs typeface="Times New Roman" panose="02020603050405020304" pitchFamily="18" charset="0"/>
              </a:rPr>
              <a:t>Extend the controller to manage not only clock frequency but also the core voltage. This would lead to a quadratic reduction in power, achieving even greater energy savings.</a:t>
            </a:r>
          </a:p>
          <a:p>
            <a:pPr marL="285750" lvl="0" indent="-285750">
              <a:buFont typeface="Arial" panose="020B0604020202020204" pitchFamily="34" charset="0"/>
              <a:buChar char="•"/>
            </a:pPr>
            <a:r>
              <a:rPr lang="en-US" b="1" dirty="0">
                <a:latin typeface="Times New Roman" panose="02020603050405020304" pitchFamily="18" charset="0"/>
                <a:ea typeface="Verdana" panose="020B0604030504040204" pitchFamily="34" charset="0"/>
                <a:cs typeface="Times New Roman" panose="02020603050405020304" pitchFamily="18" charset="0"/>
              </a:rPr>
              <a:t>Application to a Larger System: </a:t>
            </a:r>
            <a:r>
              <a:rPr lang="en-US" dirty="0">
                <a:latin typeface="Times New Roman" panose="02020603050405020304" pitchFamily="18" charset="0"/>
                <a:ea typeface="Verdana" panose="020B0604030504040204" pitchFamily="34" charset="0"/>
                <a:cs typeface="Times New Roman" panose="02020603050405020304" pitchFamily="18" charset="0"/>
              </a:rPr>
              <a:t>Apply the controller to a more extensive, multi-module system to verify its effectiveness and robustness in a real-world, System-on-Chip (SoC) environment.</a:t>
            </a:r>
            <a:endParaRPr lang="en-IN" dirty="0">
              <a:latin typeface="Times New Roman" panose="02020603050405020304" pitchFamily="18" charset="0"/>
              <a:ea typeface="Verdana" panose="020B0604030504040204" pitchFamily="34" charset="0"/>
              <a:cs typeface="Times New Roman" panose="02020603050405020304" pitchFamily="18" charset="0"/>
            </a:endParaRPr>
          </a:p>
        </p:txBody>
      </p:sp>
    </p:spTree>
    <p:extLst>
      <p:ext uri="{BB962C8B-B14F-4D97-AF65-F5344CB8AC3E}">
        <p14:creationId xmlns:p14="http://schemas.microsoft.com/office/powerpoint/2010/main" val="5678261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742"/>
        <p:cNvGrpSpPr/>
        <p:nvPr/>
      </p:nvGrpSpPr>
      <p:grpSpPr>
        <a:xfrm>
          <a:off x="0" y="0"/>
          <a:ext cx="0" cy="0"/>
          <a:chOff x="0" y="0"/>
          <a:chExt cx="0" cy="0"/>
        </a:xfrm>
      </p:grpSpPr>
      <p:sp>
        <p:nvSpPr>
          <p:cNvPr id="743" name="Google Shape;743;g2fee63df26b_0_0"/>
          <p:cNvSpPr txBox="1"/>
          <p:nvPr/>
        </p:nvSpPr>
        <p:spPr>
          <a:xfrm>
            <a:off x="1233714" y="2607717"/>
            <a:ext cx="9724500" cy="18624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500"/>
              <a:buFont typeface="Arial"/>
              <a:buNone/>
            </a:pPr>
            <a:r>
              <a:rPr lang="en-US" sz="11500" b="1" i="0" u="none" strike="noStrike" cap="none">
                <a:solidFill>
                  <a:srgbClr val="007069"/>
                </a:solidFill>
                <a:latin typeface="Open Sans"/>
                <a:ea typeface="Open Sans"/>
                <a:cs typeface="Open Sans"/>
                <a:sym typeface="Open Sans"/>
              </a:rPr>
              <a:t>THANK </a:t>
            </a:r>
            <a:r>
              <a:rPr lang="en-US" sz="11500" b="1" i="0" u="none" strike="noStrike" cap="none">
                <a:solidFill>
                  <a:srgbClr val="A5A5A5"/>
                </a:solidFill>
                <a:latin typeface="Open Sans"/>
                <a:ea typeface="Open Sans"/>
                <a:cs typeface="Open Sans"/>
                <a:sym typeface="Open Sans"/>
              </a:rPr>
              <a:t>YOU</a:t>
            </a:r>
            <a:endParaRPr sz="1400" b="0" i="0" u="none" strike="noStrike" cap="none">
              <a:solidFill>
                <a:srgbClr val="000000"/>
              </a:solidFill>
              <a:latin typeface="Aharoni"/>
              <a:ea typeface="Aharoni"/>
              <a:cs typeface="Aharoni"/>
              <a:sym typeface="Aharoni"/>
            </a:endParaRPr>
          </a:p>
        </p:txBody>
      </p:sp>
      <p:sp>
        <p:nvSpPr>
          <p:cNvPr id="744" name="Google Shape;744;g2fee63df26b_0_0"/>
          <p:cNvSpPr txBox="1"/>
          <p:nvPr/>
        </p:nvSpPr>
        <p:spPr>
          <a:xfrm>
            <a:off x="1596571" y="4466045"/>
            <a:ext cx="8998800" cy="400069"/>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US" sz="2000" b="1" dirty="0">
                <a:solidFill>
                  <a:srgbClr val="7F7F7F"/>
                </a:solidFill>
                <a:latin typeface="Open Sans"/>
                <a:ea typeface="Open Sans"/>
                <a:cs typeface="Open Sans"/>
                <a:sym typeface="Open Sans"/>
              </a:rPr>
              <a:t>Have a Great Day ! </a:t>
            </a:r>
            <a:endParaRPr sz="1400" b="0" i="0" u="none" strike="noStrike" cap="none" dirty="0">
              <a:solidFill>
                <a:srgbClr val="000000"/>
              </a:solidFill>
              <a:latin typeface="Aharoni"/>
              <a:ea typeface="Aharoni"/>
              <a:cs typeface="Aharoni"/>
              <a:sym typeface="Aharoni"/>
            </a:endParaRP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PRESGUID" val="2b12e713-2dca-40f0-9e5e-b71e83d0a0b8"/>
</p:tagLst>
</file>

<file path=ppt/theme/theme1.xml><?xml version="1.0" encoding="utf-8"?>
<a:theme xmlns:a="http://schemas.openxmlformats.org/drawingml/2006/main" name="Office Theme">
  <a:themeElements>
    <a:clrScheme name="Custom 77">
      <a:dk1>
        <a:srgbClr val="282828"/>
      </a:dk1>
      <a:lt1>
        <a:srgbClr val="FFFFFF"/>
      </a:lt1>
      <a:dk2>
        <a:srgbClr val="282828"/>
      </a:dk2>
      <a:lt2>
        <a:srgbClr val="FAFAFA"/>
      </a:lt2>
      <a:accent1>
        <a:srgbClr val="FFC639"/>
      </a:accent1>
      <a:accent2>
        <a:srgbClr val="F29B6B"/>
      </a:accent2>
      <a:accent3>
        <a:srgbClr val="CCD4FB"/>
      </a:accent3>
      <a:accent4>
        <a:srgbClr val="2B7158"/>
      </a:accent4>
      <a:accent5>
        <a:srgbClr val="456AB8"/>
      </a:accent5>
      <a:accent6>
        <a:srgbClr val="363836"/>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3272</TotalTime>
  <Words>2414</Words>
  <Application>Microsoft Office PowerPoint</Application>
  <PresentationFormat>Widescreen</PresentationFormat>
  <Paragraphs>163</Paragraphs>
  <Slides>12</Slides>
  <Notes>3</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12</vt:i4>
      </vt:variant>
    </vt:vector>
  </HeadingPairs>
  <TitlesOfParts>
    <vt:vector size="22" baseType="lpstr">
      <vt:lpstr>Montserrat Medium</vt:lpstr>
      <vt:lpstr>Verdana</vt:lpstr>
      <vt:lpstr>Aharoni</vt:lpstr>
      <vt:lpstr>Times New Roman</vt:lpstr>
      <vt:lpstr>Calibri</vt:lpstr>
      <vt:lpstr>Plus Jakarta Sans</vt:lpstr>
      <vt:lpstr>Arial</vt:lpstr>
      <vt:lpstr>Poppins SemiBold</vt:lpstr>
      <vt:lpstr>Open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GITAM</dc:creator>
  <cp:lastModifiedBy>nagajyoshika@gmail.com</cp:lastModifiedBy>
  <cp:revision>49</cp:revision>
  <dcterms:created xsi:type="dcterms:W3CDTF">2022-05-23T07:15:42Z</dcterms:created>
  <dcterms:modified xsi:type="dcterms:W3CDTF">2025-09-26T06:18:57Z</dcterms:modified>
</cp:coreProperties>
</file>